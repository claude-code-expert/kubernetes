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00500" cy="6858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-822960"/>
            <a:ext cx="3291840" cy="3291840"/>
          </a:xfrm>
          <a:prstGeom prst="ellipse">
            <a:avLst/>
          </a:prstGeom>
          <a:solidFill>
            <a:srgbClr val="4A7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0" y="640080"/>
            <a:ext cx="1737360" cy="1737360"/>
          </a:xfrm>
          <a:prstGeom prst="ellipse">
            <a:avLst/>
          </a:prstGeom>
          <a:solidFill>
            <a:srgbClr val="4A7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566160"/>
            <a:ext cx="32689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ADCCF8"/>
                </a:solidFill>
                <a:latin typeface="Apple SD Gothic Neo"/>
              </a:rPr>
              <a:t>CHAPTER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32689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Apple SD Gothic Neo"/>
              </a:rPr>
              <a:t>Kubernetes</a:t>
            </a:r>
          </a:p>
          <a:p>
            <a:r>
              <a:rPr sz="2200" b="0" i="0">
                <a:solidFill>
                  <a:srgbClr val="FFFFFF"/>
                </a:solidFill>
                <a:latin typeface="Apple SD Gothic Neo"/>
              </a:rPr>
              <a:t>in 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166360"/>
            <a:ext cx="502920" cy="22860"/>
          </a:xfrm>
          <a:prstGeom prst="rect">
            <a:avLst/>
          </a:prstGeom>
          <a:solidFill>
            <a:srgbClr val="ADC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349240"/>
            <a:ext cx="32689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ADCCF8"/>
                </a:solidFill>
                <a:latin typeface="Apple SD Gothic Neo"/>
              </a:rPr>
              <a:t>PRESENTER</a:t>
            </a:r>
          </a:p>
          <a:p>
            <a:r>
              <a:rPr sz="1300" b="0" i="0">
                <a:solidFill>
                  <a:srgbClr val="FFFFFF"/>
                </a:solidFill>
                <a:latin typeface="Apple SD Gothic Neo"/>
              </a:rPr>
              <a:t>김도엽 (Brian)</a:t>
            </a:r>
          </a:p>
          <a:p>
            <a:r>
              <a:rPr sz="400" b="0" i="0">
                <a:solidFill>
                  <a:srgbClr val="FFFFFF"/>
                </a:solidFill>
                <a:latin typeface="Apple SD Gothic Neo"/>
              </a:rPr>
              <a:t/>
            </a:r>
          </a:p>
          <a:p>
            <a:r>
              <a:rPr sz="900" b="1" i="0">
                <a:solidFill>
                  <a:srgbClr val="ADCCF8"/>
                </a:solidFill>
                <a:latin typeface="Apple SD Gothic Neo"/>
              </a:rPr>
              <a:t>DATE</a:t>
            </a:r>
          </a:p>
          <a:p>
            <a:r>
              <a:rPr sz="1300" b="0" i="0">
                <a:solidFill>
                  <a:srgbClr val="FFFFFF"/>
                </a:solidFill>
                <a:latin typeface="Apple SD Gothic Neo"/>
              </a:rPr>
              <a:t>2026. 05. 17</a:t>
            </a:r>
          </a:p>
        </p:txBody>
      </p:sp>
      <p:sp>
        <p:nvSpPr>
          <p:cNvPr id="9" name="Oval 8"/>
          <p:cNvSpPr/>
          <p:nvPr/>
        </p:nvSpPr>
        <p:spPr>
          <a:xfrm>
            <a:off x="4274820" y="3657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11980" y="3657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49140" y="3657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86300" y="3657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23459" y="3657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960620" y="3657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97779" y="3657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34940" y="3657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74820" y="50292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11980" y="50292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49140" y="50292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86300" y="50292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23459" y="50292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60620" y="50292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97779" y="50292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34940" y="50292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274820" y="64008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11980" y="64008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49140" y="64008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86300" y="64008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23459" y="64008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960620" y="64008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97779" y="64008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4940" y="64008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274820" y="77724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411980" y="77724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549140" y="77724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686300" y="77724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23459" y="77724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960620" y="77724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97779" y="77724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234940" y="77724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274820" y="91440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411980" y="91440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549140" y="91440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686300" y="91440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23459" y="91440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60620" y="91440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097779" y="91440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34940" y="91440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274820" y="10515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411980" y="10515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549140" y="10515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686300" y="10515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823459" y="10515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960620" y="10515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097779" y="10515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234940" y="1051560"/>
            <a:ext cx="50292" cy="50292"/>
          </a:xfrm>
          <a:prstGeom prst="ellipse">
            <a:avLst/>
          </a:prstGeom>
          <a:solidFill>
            <a:srgbClr val="D1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94860" y="1874519"/>
            <a:ext cx="3200400" cy="329184"/>
          </a:xfrm>
          <a:prstGeom prst="rect">
            <a:avLst/>
          </a:prstGeom>
          <a:solidFill>
            <a:srgbClr val="EE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13732" y="1920240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326CE5"/>
                </a:solidFill>
                <a:latin typeface="Apple SD Gothic Neo"/>
              </a:rPr>
              <a:t>● Deployments &amp; Rolling Updates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94860" y="2377440"/>
            <a:ext cx="73682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326CE5"/>
                </a:solidFill>
                <a:latin typeface="Apple SD Gothic Neo"/>
              </a:rPr>
              <a:t>Deployment</a:t>
            </a:r>
          </a:p>
          <a:p>
            <a:r>
              <a:rPr sz="3600" b="1" i="0">
                <a:solidFill>
                  <a:srgbClr val="111827"/>
                </a:solidFill>
                <a:latin typeface="Apple SD Gothic Neo"/>
              </a:rPr>
              <a:t>롤링 업데이트와 배포 전략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94860" y="4709160"/>
            <a:ext cx="73682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6B7280"/>
                </a:solidFill>
                <a:latin typeface="Apple SD Gothic Neo"/>
              </a:rPr>
              <a:t>무중단 배포, 롤백, 카나리 배포까지 —
Kubernetes Deployment가 제공하는 모든 것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00500" y="6821424"/>
            <a:ext cx="8191195" cy="36576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Apple SD Gothic Neo"/>
              </a:rPr>
              <a:t>Kubernetes in Action · </a:t>
            </a:r>
            <a:r>
              <a:rPr sz="1000" b="1" i="0">
                <a:solidFill>
                  <a:srgbClr val="326CE5"/>
                </a:solidFill>
                <a:latin typeface="Apple SD Gothic Neo"/>
              </a:rPr>
              <a:t>Ch.9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02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Apple SD Gothic Neo"/>
              </a:rPr>
              <a:t>Kubernetes in Action — Chapter 9: Deployments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2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08990"/>
            <a:ext cx="110486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Apple SD Gothic Neo"/>
              </a:rPr>
              <a:t>Deployment 리소스 소개 및 ReplicaSet과의 관계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089050"/>
            <a:ext cx="1104869" cy="18288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" y="1139342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Deployment란?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1523390"/>
            <a:ext cx="110486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Apple SD Gothic Neo"/>
              </a:rPr>
              <a:t>Deployment는 애플리케이션의 </a:t>
            </a:r>
            <a:r>
              <a:rPr sz="1200" b="1" i="0">
                <a:solidFill>
                  <a:srgbClr val="111827"/>
                </a:solidFill>
                <a:latin typeface="Apple SD Gothic Neo"/>
              </a:rPr>
              <a:t>선언적 업데이트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를 관리하는 상위 수준의 리소스다. Pod를 직접 관리하는 대신 Deployment가 ReplicaSet을 생성하고, ReplicaSet이 Pod를 관리하는 계층 구조를 가진다.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2072030"/>
            <a:ext cx="11048695" cy="877824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2072030"/>
            <a:ext cx="54864" cy="87782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" y="2154326"/>
            <a:ext cx="10884103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Deployment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└── ReplicaSet (현재 버전)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  └── Pod, Pod, Pod ...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└── ReplicaSet (이전 버전, 스케일 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3041294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ReplicaSet과의 관계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3425342"/>
            <a:ext cx="11048695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Deployment는 내부적으로 ReplicaSet을 생성하여 Pod를 관리한다.</a:t>
            </a:r>
          </a:p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업데이트가 발생하면 Deployment는 </a:t>
            </a:r>
            <a:r>
              <a:rPr sz="1200" b="1" i="0">
                <a:solidFill>
                  <a:srgbClr val="111827"/>
                </a:solidFill>
                <a:latin typeface="Apple SD Gothic Neo"/>
              </a:rPr>
              <a:t>새 ReplicaSet을 생성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하고, 기존 ReplicaSet의 replica 수를 점진적으로 줄인다.</a:t>
            </a:r>
          </a:p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이전 ReplicaSet은 삭제되지 않고 남아 있어 </a:t>
            </a:r>
            <a:r>
              <a:rPr sz="1200" b="1" i="0">
                <a:solidFill>
                  <a:srgbClr val="111827"/>
                </a:solidFill>
                <a:latin typeface="Apple SD Gothic Neo"/>
              </a:rPr>
              <a:t>롤백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 시 재사용된다.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Apple SD Gothic Neo"/>
              </a:rPr>
              <a:t>Kubernetes in Action · </a:t>
            </a:r>
            <a:r>
              <a:rPr sz="1000" b="1" i="0">
                <a:solidFill>
                  <a:srgbClr val="326CE5"/>
                </a:solidFill>
                <a:latin typeface="Apple SD Gothic Neo"/>
              </a:rPr>
              <a:t>Ch.9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03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Apple SD Gothic Neo"/>
              </a:rPr>
              <a:t>Kubernetes in Action — Chapter 9: Deployments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3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08990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Deployment 기본 예시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993038"/>
            <a:ext cx="11048695" cy="3076956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993038"/>
            <a:ext cx="54864" cy="3076956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" y="1075334"/>
            <a:ext cx="10884103" cy="29123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apiVersion: apps/v1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kind: Deployment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metadata: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name: my-app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spec: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replicas: 3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selector: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matchLabels: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app: my-app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template: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metadata: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labels: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  app: my-app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spec: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containers: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- name: my-app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  image: my-app:v1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Apple SD Gothic Neo"/>
              </a:rPr>
              <a:t>Kubernetes in Action · </a:t>
            </a:r>
            <a:r>
              <a:rPr sz="1000" b="1" i="0">
                <a:solidFill>
                  <a:srgbClr val="326CE5"/>
                </a:solidFill>
                <a:latin typeface="Apple SD Gothic Neo"/>
              </a:rPr>
              <a:t>Ch.9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04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Apple SD Gothic Neo"/>
              </a:rPr>
              <a:t>Kubernetes in Action — Chapter 9: Deployments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4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08990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ReplicaSet을 직접 쓰지 않는 이유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1500" y="993038"/>
          <a:ext cx="1104869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2898"/>
                <a:gridCol w="3682898"/>
                <a:gridCol w="3682898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26CE5"/>
                          </a:solidFill>
                          <a:latin typeface="Apple SD Gothic Neo"/>
                        </a:rPr>
                        <a:t>기능</a:t>
                      </a:r>
                    </a:p>
                  </a:txBody>
                  <a:tcPr marL="73152" marR="73152" marT="36576" marB="36576">
                    <a:solidFill>
                      <a:srgbClr val="EEF3FD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26CE5"/>
                          </a:solidFill>
                          <a:latin typeface="Apple SD Gothic Neo"/>
                        </a:rPr>
                        <a:t>ReplicaSet</a:t>
                      </a:r>
                    </a:p>
                  </a:txBody>
                  <a:tcPr marL="73152" marR="73152" marT="36576" marB="36576">
                    <a:solidFill>
                      <a:srgbClr val="EEF3FD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26CE5"/>
                          </a:solidFill>
                          <a:latin typeface="Apple SD Gothic Neo"/>
                        </a:rPr>
                        <a:t>Deployment</a:t>
                      </a:r>
                    </a:p>
                  </a:txBody>
                  <a:tcPr marL="73152" marR="73152" marT="36576" marB="36576">
                    <a:solidFill>
                      <a:srgbClr val="EEF3FD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Pod 복제 유지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롤링 업데이트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X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O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롤백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업데이트 히스토리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X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O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1500" y="2510942"/>
            <a:ext cx="11048695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Apple SD Gothic Neo"/>
              </a:rPr>
              <a:t>직접 ReplicaSet을 생성하는 것은 권장되지 않는다. Deployment를 통해 ReplicaSet을 간접 관리하는 것이 표준 방식이다.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Apple SD Gothic Neo"/>
              </a:rPr>
              <a:t>Kubernetes in Action · </a:t>
            </a:r>
            <a:r>
              <a:rPr sz="1000" b="1" i="0">
                <a:solidFill>
                  <a:srgbClr val="326CE5"/>
                </a:solidFill>
                <a:latin typeface="Apple SD Gothic Neo"/>
              </a:rPr>
              <a:t>Ch.9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05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Apple SD Gothic Neo"/>
              </a:rPr>
              <a:t>Kubernetes in Action — Chapter 9: Deployments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5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08990"/>
            <a:ext cx="110486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Apple SD Gothic Neo"/>
              </a:rPr>
              <a:t>롤링 업데이트(Rolling Update) 전략 — 무중단 배포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089050"/>
            <a:ext cx="1104869" cy="18288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" y="1139342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개념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1523390"/>
            <a:ext cx="110486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Apple SD Gothic Neo"/>
              </a:rPr>
              <a:t>롤링 업데이트는 기존 Pod를 한 번에 모두 교체하지 않고, </a:t>
            </a:r>
            <a:r>
              <a:rPr sz="1200" b="1" i="0">
                <a:solidFill>
                  <a:srgbClr val="111827"/>
                </a:solidFill>
                <a:latin typeface="Apple SD Gothic Neo"/>
              </a:rPr>
              <a:t>순차적으로 새 Pod로 교체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하는 방식이다. 일부 Pod는 항상 실행 중이므로 서비스 중단 없이 배포할 수 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2072030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동작 방식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2456078"/>
            <a:ext cx="11048695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  ›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Deployment가 새 이미지로 새 ReplicaSet 생성</a:t>
            </a:r>
          </a:p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  ›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새 ReplicaSet의 replica를 1씩 증가</a:t>
            </a:r>
          </a:p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  ›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기존 ReplicaSet의 replica를 1씩 감소</a:t>
            </a:r>
          </a:p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  ›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모든 Pod가 교체될 때까지 반복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3461918"/>
            <a:ext cx="11048695" cy="877824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3461918"/>
            <a:ext cx="54864" cy="87782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" y="3544214"/>
            <a:ext cx="10884103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[Before]  v1 v1 v1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[Step 1]  v1 v1 v2   ← 새 Pod 추가, 기존 Pod 제거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[Step 2]  v1 v2 v2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[Step 3]  v2 v2 v2   ← 완료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Apple SD Gothic Neo"/>
              </a:rPr>
              <a:t>Kubernetes in Action · </a:t>
            </a:r>
            <a:r>
              <a:rPr sz="1000" b="1" i="0">
                <a:solidFill>
                  <a:srgbClr val="326CE5"/>
                </a:solidFill>
                <a:latin typeface="Apple SD Gothic Neo"/>
              </a:rPr>
              <a:t>Ch.9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06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Apple SD Gothic Neo"/>
              </a:rPr>
              <a:t>Kubernetes in Action — Chapter 9: Deployments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6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08990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업데이트 트리거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993038"/>
            <a:ext cx="11048695" cy="1046988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993038"/>
            <a:ext cx="54864" cy="1046988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" y="1075334"/>
            <a:ext cx="10884103" cy="8823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# 이미지 변경으로 롤링 업데이트 시작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kubectl set image deployment/my-app my-app=my-app:v2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/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# YAML 수정 후 적용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kubectl apply -f deployment.yaml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2131466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업데이트 상태 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2515514"/>
            <a:ext cx="11048695" cy="1046988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2515514"/>
            <a:ext cx="54864" cy="1046988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" y="2597810"/>
            <a:ext cx="10884103" cy="8823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# 롤아웃 진행 상황 모니터링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kubectl rollout status deployment/my-app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/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# 이벤트 확인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kubectl describe deployment my-app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3653942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장점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037990"/>
            <a:ext cx="11048695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서비스 </a:t>
            </a:r>
            <a:r>
              <a:rPr sz="1200" b="1" i="0">
                <a:solidFill>
                  <a:srgbClr val="111827"/>
                </a:solidFill>
                <a:latin typeface="Apple SD Gothic Neo"/>
              </a:rPr>
              <a:t>무중단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 배포 가능</a:t>
            </a:r>
          </a:p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배포 중 문제 발생 시 </a:t>
            </a:r>
            <a:r>
              <a:rPr sz="1200" b="1" i="0">
                <a:solidFill>
                  <a:srgbClr val="111827"/>
                </a:solidFill>
                <a:latin typeface="Apple SD Gothic Neo"/>
              </a:rPr>
              <a:t>자동으로 중단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 (Pod가 Ready 상태가 안 되면)</a:t>
            </a:r>
          </a:p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문제 발생 시 즉시 </a:t>
            </a:r>
            <a:r>
              <a:rPr sz="1200" b="1" i="0">
                <a:solidFill>
                  <a:srgbClr val="111827"/>
                </a:solidFill>
                <a:latin typeface="Apple SD Gothic Neo"/>
              </a:rPr>
              <a:t>롤백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 가능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Apple SD Gothic Neo"/>
              </a:rPr>
              <a:t>Kubernetes in Action · </a:t>
            </a:r>
            <a:r>
              <a:rPr sz="1000" b="1" i="0">
                <a:solidFill>
                  <a:srgbClr val="326CE5"/>
                </a:solidFill>
                <a:latin typeface="Apple SD Gothic Neo"/>
              </a:rPr>
              <a:t>Ch.9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07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Apple SD Gothic Neo"/>
              </a:rPr>
              <a:t>Kubernetes in Action — Chapter 9: Deployments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7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08990"/>
            <a:ext cx="110486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Apple SD Gothic Neo"/>
              </a:rPr>
              <a:t>롤백(Rollback) — kubectl rollout undo로 이전 버전 복구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089050"/>
            <a:ext cx="1104869" cy="18288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" y="1139342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개념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1523390"/>
            <a:ext cx="110486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Apple SD Gothic Neo"/>
              </a:rPr>
              <a:t>배포 후 문제가 발생했을 때 이전에 정상 동작하던 버전으로 빠르게 되돌리는 기능이다. Deployment가 이전 ReplicaSet을 보존하고 있기 때문에 가능하다.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2072030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기본 롤백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2456078"/>
            <a:ext cx="11048695" cy="539496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2456078"/>
            <a:ext cx="54864" cy="539496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" y="2538374"/>
            <a:ext cx="10884103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# 바로 이전 버전으로 롤백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kubectl rollout undo deployment/my-app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3087014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특정 리비전으로 롤백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3471062"/>
            <a:ext cx="11048695" cy="155448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" y="3471062"/>
            <a:ext cx="54864" cy="155448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" y="3553358"/>
            <a:ext cx="10884103" cy="138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# 롤아웃 히스토리 확인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kubectl rollout history deployment/my-app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/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# 특정 리비전의 상세 내용 확인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kubectl rollout history deployment/my-app --revision=2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/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# 특정 리비전으로 롤백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kubectl rollout undo deployment/my-app --to-revision=2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Apple SD Gothic Neo"/>
              </a:rPr>
              <a:t>Kubernetes in Action · </a:t>
            </a:r>
            <a:r>
              <a:rPr sz="1000" b="1" i="0">
                <a:solidFill>
                  <a:srgbClr val="326CE5"/>
                </a:solidFill>
                <a:latin typeface="Apple SD Gothic Neo"/>
              </a:rPr>
              <a:t>Ch.9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08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Apple SD Gothic Neo"/>
              </a:rPr>
              <a:t>Kubernetes in Action — Chapter 9: Deployments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8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08990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히스토리 예시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993038"/>
            <a:ext cx="11048695" cy="877824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993038"/>
            <a:ext cx="54864" cy="87782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" y="1075334"/>
            <a:ext cx="10884103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REVISION  CHANGE-CAUSE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1         kubectl apply --filename=deployment.yaml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2         kubectl set image deployment/my-app my-app=my-app:v2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3         kubectl set image deployment/my-app my-app=my-app:v3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1962302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CHANGE-CAUSE 기록하기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2346350"/>
            <a:ext cx="11048695" cy="539496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2346350"/>
            <a:ext cx="54864" cy="539496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" y="2428646"/>
            <a:ext cx="10884103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# --record 플래그로 변경 원인 기록 (deprecated, annotation 직접 사용 권장)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kubectl annotate deployment/my-app kubernetes.io/change-cause="v2 배포: 로그인 버그 수정"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2977286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동작 원리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3361334"/>
            <a:ext cx="110486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Apple SD Gothic Neo"/>
              </a:rPr>
              <a:t>롤백 시 Deployment는 이전 ReplicaSet의 replica 수를 늘리고 현재 ReplicaSet의 replica 수를 줄인다. 실제로는 </a:t>
            </a:r>
            <a:r>
              <a:rPr sz="1200" b="1" i="0">
                <a:solidFill>
                  <a:srgbClr val="111827"/>
                </a:solidFill>
                <a:latin typeface="Apple SD Gothic Neo"/>
              </a:rPr>
              <a:t>새 롤아웃과 동일한 메커니즘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으로 동작하며, 리비전 번호는 증가한다.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Apple SD Gothic Neo"/>
              </a:rPr>
              <a:t>Kubernetes in Action · </a:t>
            </a:r>
            <a:r>
              <a:rPr sz="1000" b="1" i="0">
                <a:solidFill>
                  <a:srgbClr val="326CE5"/>
                </a:solidFill>
                <a:latin typeface="Apple SD Gothic Neo"/>
              </a:rPr>
              <a:t>Ch.9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09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Apple SD Gothic Neo"/>
              </a:rPr>
              <a:t>Kubernetes in Action — Chapter 9: Deployments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9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08990"/>
            <a:ext cx="110486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Apple SD Gothic Neo"/>
              </a:rPr>
              <a:t>업데이트 전략 — RollingUpdate vs Recreate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089050"/>
            <a:ext cx="1104869" cy="18288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" y="1139342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두 가지 전략 비교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71500" y="1523390"/>
          <a:ext cx="1104869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2898"/>
                <a:gridCol w="3682898"/>
                <a:gridCol w="3682898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26CE5"/>
                          </a:solidFill>
                          <a:latin typeface="Apple SD Gothic Neo"/>
                        </a:rPr>
                        <a:t>항목</a:t>
                      </a:r>
                    </a:p>
                  </a:txBody>
                  <a:tcPr marL="73152" marR="73152" marT="36576" marB="36576">
                    <a:solidFill>
                      <a:srgbClr val="EEF3FD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26CE5"/>
                          </a:solidFill>
                          <a:latin typeface="Apple SD Gothic Neo"/>
                        </a:rPr>
                        <a:t>RollingUpdate</a:t>
                      </a:r>
                    </a:p>
                  </a:txBody>
                  <a:tcPr marL="73152" marR="73152" marT="36576" marB="36576">
                    <a:solidFill>
                      <a:srgbClr val="EEF3FD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26CE5"/>
                          </a:solidFill>
                          <a:latin typeface="Apple SD Gothic Neo"/>
                        </a:rPr>
                        <a:t>Recreate</a:t>
                      </a:r>
                    </a:p>
                  </a:txBody>
                  <a:tcPr marL="73152" marR="73152" marT="36576" marB="36576">
                    <a:solidFill>
                      <a:srgbClr val="EEF3FD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방식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점진적 교체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전체 종료 후 재생성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다운타임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없음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있음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리소스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일시적으로 증가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변화 없음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사용 사례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일반적인 운영 환경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구버전/신버전 동시 실행 불가 시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71500" y="3041294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RollingUpdate (기본값)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3425342"/>
            <a:ext cx="11048695" cy="1216151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3425342"/>
            <a:ext cx="54864" cy="1216151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" y="3507638"/>
            <a:ext cx="10884103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spec: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strategy: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type: RollingUpdate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rollingUpdate: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maxSurge: 25%         # 기본값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maxUnavailable: 25%   # 기본값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732934"/>
            <a:ext cx="11048695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기존 Pod를 점진적으로 새 Pod로 교체</a:t>
            </a:r>
          </a:p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서비스 무중단 보장</a:t>
            </a:r>
          </a:p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배포 중 구버전과 신버전이 </a:t>
            </a:r>
            <a:r>
              <a:rPr sz="1200" b="1" i="0">
                <a:solidFill>
                  <a:srgbClr val="111827"/>
                </a:solidFill>
                <a:latin typeface="Apple SD Gothic Neo"/>
              </a:rPr>
              <a:t>동시에 존재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할 수 있음</a:t>
            </a:r>
          </a:p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26CE5"/>
                </a:solidFill>
                <a:latin typeface="Menlo"/>
              </a:rPr>
              <a:t>maxSurge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와 </a:t>
            </a:r>
            <a:r>
              <a:rPr sz="1200" b="0" i="0">
                <a:solidFill>
                  <a:srgbClr val="326CE5"/>
                </a:solidFill>
                <a:latin typeface="Menlo"/>
              </a:rPr>
              <a:t>maxUnavailable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의 세부 튜닝은 05번 섹션 참고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Apple SD Gothic Neo"/>
              </a:rPr>
              <a:t>Kubernetes in Action · </a:t>
            </a:r>
            <a:r>
              <a:rPr sz="1000" b="1" i="0">
                <a:solidFill>
                  <a:srgbClr val="326CE5"/>
                </a:solidFill>
                <a:latin typeface="Apple SD Gothic Neo"/>
              </a:rPr>
              <a:t>Ch.9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10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Apple SD Gothic Neo"/>
              </a:rPr>
              <a:t>Kubernetes in Action — Chapter 9: Deployments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10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08990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Recreate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993038"/>
            <a:ext cx="11048695" cy="708659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993038"/>
            <a:ext cx="54864" cy="708659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" y="1075334"/>
            <a:ext cx="10884103" cy="544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spec: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strategy: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type: Recreate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1793138"/>
            <a:ext cx="11048695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기존 Pod를 </a:t>
            </a:r>
            <a:r>
              <a:rPr sz="1200" b="1" i="0">
                <a:solidFill>
                  <a:srgbClr val="111827"/>
                </a:solidFill>
                <a:latin typeface="Apple SD Gothic Neo"/>
              </a:rPr>
              <a:t>모두 종료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한 뒤 새 Pod를 생성</a:t>
            </a:r>
          </a:p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다운타임 발생</a:t>
            </a:r>
          </a:p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구버전과 신버전이 동시에 실행되면 안 되는 경우(예: DB 스키마 변경, 싱글턴 프로세스)에 적합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2570378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Recreate가 필요한 상황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2954426"/>
            <a:ext cx="11048695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데이터베이스 마이그레이션처럼 구버전 앱이 새 스키마와 호환되지 않는 경우</a:t>
            </a:r>
          </a:p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파일 잠금(lock)이나 싱글턴 패턴으로 동시 실행이 불가능한 경우</a:t>
            </a:r>
          </a:p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개발/테스트 환경에서 빠른 재배포가 필요한 경우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Apple SD Gothic Neo"/>
              </a:rPr>
              <a:t>Kubernetes in Action · </a:t>
            </a:r>
            <a:r>
              <a:rPr sz="1000" b="1" i="0">
                <a:solidFill>
                  <a:srgbClr val="326CE5"/>
                </a:solidFill>
                <a:latin typeface="Apple SD Gothic Neo"/>
              </a:rPr>
              <a:t>Ch.9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11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Apple SD Gothic Neo"/>
              </a:rPr>
              <a:t>Kubernetes in Action — Chapter 9: Deployments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11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08990"/>
            <a:ext cx="110486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Apple SD Gothic Neo"/>
              </a:rPr>
              <a:t>maxSurge, maxUnavailable 파라미터 튜닝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089050"/>
            <a:ext cx="1104869" cy="18288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" y="1139342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개요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1523390"/>
            <a:ext cx="11048695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Apple SD Gothic Neo"/>
              </a:rPr>
              <a:t>RollingUpdate 전략에서 배포 속도와 가용성 사이의 균형을 조절하는 두 파라미터다. 절대값 또는 백분율(%)로 지정할 수 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1843430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maxUnavailable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2227478"/>
            <a:ext cx="11048695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Apple SD Gothic Neo"/>
              </a:rPr>
              <a:t>배포 중 </a:t>
            </a:r>
            <a:r>
              <a:rPr sz="1200" b="1" i="0">
                <a:solidFill>
                  <a:srgbClr val="111827"/>
                </a:solidFill>
                <a:latin typeface="Apple SD Gothic Neo"/>
              </a:rPr>
              <a:t>동시에 사용 불가 상태가 될 수 있는 최대 Pod 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2547518"/>
            <a:ext cx="11048695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기본값: </a:t>
            </a:r>
            <a:r>
              <a:rPr sz="1200" b="0" i="0">
                <a:solidFill>
                  <a:srgbClr val="326CE5"/>
                </a:solidFill>
                <a:latin typeface="Menlo"/>
              </a:rPr>
              <a:t>25%</a:t>
            </a:r>
          </a:p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26CE5"/>
                </a:solidFill>
                <a:latin typeface="Menlo"/>
              </a:rPr>
              <a:t>0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으로 설정하면 항상 원하는 수의 Pod가 Ready 상태를 유지</a:t>
            </a:r>
          </a:p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작을수록 가용성 높고 배포 느림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3324758"/>
            <a:ext cx="11048695" cy="539496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3324758"/>
            <a:ext cx="54864" cy="539496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" y="3407054"/>
            <a:ext cx="10884103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rollingUpdate: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maxUnavailable: 1   # 동시에 최대 1개 Pod 종료 허용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3955694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maxSurge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339742"/>
            <a:ext cx="11048695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Apple SD Gothic Neo"/>
              </a:rPr>
              <a:t>배포 중 </a:t>
            </a:r>
            <a:r>
              <a:rPr sz="1200" b="1" i="0">
                <a:solidFill>
                  <a:srgbClr val="111827"/>
                </a:solidFill>
                <a:latin typeface="Apple SD Gothic Neo"/>
              </a:rPr>
              <a:t>원하는 replica 수를 초과해 생성할 수 있는 최대 Pod 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4659782"/>
            <a:ext cx="11048695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기본값: </a:t>
            </a:r>
            <a:r>
              <a:rPr sz="1200" b="0" i="0">
                <a:solidFill>
                  <a:srgbClr val="326CE5"/>
                </a:solidFill>
                <a:latin typeface="Menlo"/>
              </a:rPr>
              <a:t>25%</a:t>
            </a:r>
          </a:p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26CE5"/>
                </a:solidFill>
                <a:latin typeface="Menlo"/>
              </a:rPr>
              <a:t>0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으로 설정하면 기존 Pod를 먼저 제거 후 새 Pod 생성 (느리지만 리소스 절약)</a:t>
            </a:r>
          </a:p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클수록 배포 빠르고 일시적 리소스 사용 증가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Apple SD Gothic Neo"/>
              </a:rPr>
              <a:t>Kubernetes in Action · </a:t>
            </a:r>
            <a:r>
              <a:rPr sz="1000" b="1" i="0">
                <a:solidFill>
                  <a:srgbClr val="326CE5"/>
                </a:solidFill>
                <a:latin typeface="Apple SD Gothic Neo"/>
              </a:rPr>
              <a:t>Ch.9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12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Apple SD Gothic Neo"/>
              </a:rPr>
              <a:t>Kubernetes in Action — Chapter 9: Deployments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12 / 24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608990"/>
            <a:ext cx="11048695" cy="539496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608990"/>
            <a:ext cx="54864" cy="539496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" y="691286"/>
            <a:ext cx="10884103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rollingUpdate: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maxSurge: 1   # 원하는 수보다 최대 1개 초과 생성 허용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1239926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조합별 동작 예시 (replicas: 3)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71500" y="1623974"/>
          <a:ext cx="110486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739"/>
                <a:gridCol w="2209739"/>
                <a:gridCol w="2209739"/>
                <a:gridCol w="2209739"/>
                <a:gridCol w="2209739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26CE5"/>
                          </a:solidFill>
                          <a:latin typeface="Apple SD Gothic Neo"/>
                        </a:rPr>
                        <a:t>maxSurge</a:t>
                      </a:r>
                    </a:p>
                  </a:txBody>
                  <a:tcPr marL="73152" marR="73152" marT="36576" marB="36576">
                    <a:solidFill>
                      <a:srgbClr val="EEF3FD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26CE5"/>
                          </a:solidFill>
                          <a:latin typeface="Apple SD Gothic Neo"/>
                        </a:rPr>
                        <a:t>maxUnavailable</a:t>
                      </a:r>
                    </a:p>
                  </a:txBody>
                  <a:tcPr marL="73152" marR="73152" marT="36576" marB="36576">
                    <a:solidFill>
                      <a:srgbClr val="EEF3FD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26CE5"/>
                          </a:solidFill>
                          <a:latin typeface="Apple SD Gothic Neo"/>
                        </a:rPr>
                        <a:t>동시 최대 Pod 수</a:t>
                      </a:r>
                    </a:p>
                  </a:txBody>
                  <a:tcPr marL="73152" marR="73152" marT="36576" marB="36576">
                    <a:solidFill>
                      <a:srgbClr val="EEF3FD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26CE5"/>
                          </a:solidFill>
                          <a:latin typeface="Apple SD Gothic Neo"/>
                        </a:rPr>
                        <a:t>동시 최소 Pod 수</a:t>
                      </a:r>
                    </a:p>
                  </a:txBody>
                  <a:tcPr marL="73152" marR="73152" marT="36576" marB="36576">
                    <a:solidFill>
                      <a:srgbClr val="EEF3FD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26CE5"/>
                          </a:solidFill>
                          <a:latin typeface="Apple SD Gothic Neo"/>
                        </a:rPr>
                        <a:t>특징</a:t>
                      </a:r>
                    </a:p>
                  </a:txBody>
                  <a:tcPr marL="73152" marR="73152" marT="36576" marB="36576">
                    <a:solidFill>
                      <a:srgbClr val="EEF3FD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무중단, 약간 느림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리소스 절약, 가용성 약간 감소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빠른 배포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매우 빠르지만 순간 중단 가능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71500" y="3141878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권장 설정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3525926"/>
            <a:ext cx="11048695" cy="1216151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3525926"/>
            <a:ext cx="54864" cy="1216151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" y="3608222"/>
            <a:ext cx="10884103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spec: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strategy: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type: RollingUpdate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rollingUpdate: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maxSurge: 1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maxUnavailable: 0   # 무중단 배포 보장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833518"/>
            <a:ext cx="11048695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Apple SD Gothic Neo"/>
              </a:rPr>
              <a:t>무중단이 중요한 운영 환경에서는 </a:t>
            </a:r>
            <a:r>
              <a:rPr sz="1200" b="0" i="0">
                <a:solidFill>
                  <a:srgbClr val="326CE5"/>
                </a:solidFill>
                <a:latin typeface="Menlo"/>
              </a:rPr>
              <a:t>maxUnavailable: 0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, </a:t>
            </a:r>
            <a:r>
              <a:rPr sz="1200" b="0" i="0">
                <a:solidFill>
                  <a:srgbClr val="326CE5"/>
                </a:solidFill>
                <a:latin typeface="Menlo"/>
              </a:rPr>
              <a:t>maxSurge: 1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 이상으로 설정하는 것이 일반적이다.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Apple SD Gothic Neo"/>
              </a:rPr>
              <a:t>Kubernetes in Action · </a:t>
            </a:r>
            <a:r>
              <a:rPr sz="1000" b="1" i="0">
                <a:solidFill>
                  <a:srgbClr val="326CE5"/>
                </a:solidFill>
                <a:latin typeface="Apple SD Gothic Neo"/>
              </a:rPr>
              <a:t>Ch.9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13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Apple SD Gothic Neo"/>
              </a:rPr>
              <a:t>Kubernetes in Action — Chapter 9: Deployments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13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08990"/>
            <a:ext cx="110486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Apple SD Gothic Neo"/>
              </a:rPr>
              <a:t>배포 일시정지(pause) / 재개(resume) — 카나리 배포 흉내내기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089050"/>
            <a:ext cx="1104869" cy="18288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" y="1139342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개념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1523390"/>
            <a:ext cx="110486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Apple SD Gothic Neo"/>
              </a:rPr>
              <a:t>롤아웃을 일시정지하면 일부 Pod만 새 버전으로 교체된 채 멈추게 된다. 이 상태에서 새 버전의 동작을 검증한 후 재개(resume)하거나 롤백할 수 있다. 이를 이용해 </a:t>
            </a:r>
            <a:r>
              <a:rPr sz="1200" b="1" i="0">
                <a:solidFill>
                  <a:srgbClr val="111827"/>
                </a:solidFill>
                <a:latin typeface="Apple SD Gothic Neo"/>
              </a:rPr>
              <a:t>카나리 배포(Canary Deployment)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 효과를 낼 수 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2072030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사용 방법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2456078"/>
            <a:ext cx="11048695" cy="2231136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2456078"/>
            <a:ext cx="54864" cy="2231136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" y="2538374"/>
            <a:ext cx="10884103" cy="20665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# 1. 이미지 업데이트 시작과 동시에 일시정지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kubectl set image deployment/my-app my-app=my-app:v2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kubectl rollout pause deployment/my-app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/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# 2. 일부 Pod가 새 버전으로 교체된 상태 유지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#    → 트래픽 일부가 새 버전으로 흘러들어감 (카나리 효과)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/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# 3a. 검증 성공 시 배포 재개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kubectl rollout resume deployment/my-app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/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# 3b. 문제 발생 시 롤백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kubectl rollout undo deployment/my-app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778654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카나리 배포 시뮬레이션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5162702"/>
            <a:ext cx="11048695" cy="539496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" y="5162702"/>
            <a:ext cx="54864" cy="539496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" y="5244998"/>
            <a:ext cx="10884103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[일시정지 상태]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v1 Pod × 2  +  v2 Pod × 1  = 전체 트래픽의 약 33%가 v2로 유입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Apple SD Gothic Neo"/>
              </a:rPr>
              <a:t>Kubernetes in Action · </a:t>
            </a:r>
            <a:r>
              <a:rPr sz="1000" b="1" i="0">
                <a:solidFill>
                  <a:srgbClr val="326CE5"/>
                </a:solidFill>
                <a:latin typeface="Apple SD Gothic Neo"/>
              </a:rPr>
              <a:t>Ch.9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14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Apple SD Gothic Neo"/>
              </a:rPr>
              <a:t>Kubernetes in Action — Chapter 9: Deployments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14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08990"/>
            <a:ext cx="11048695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Apple SD Gothic Neo"/>
              </a:rPr>
              <a:t>새 버전으로 유입되는 트래픽 비율은 새 버전 Pod 수 / 전체 Pod 수로 결정된다.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929030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주의사항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313078"/>
            <a:ext cx="11048695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pause/resume 방식은 </a:t>
            </a:r>
            <a:r>
              <a:rPr sz="1200" b="1" i="0">
                <a:solidFill>
                  <a:srgbClr val="111827"/>
                </a:solidFill>
                <a:latin typeface="Apple SD Gothic Neo"/>
              </a:rPr>
              <a:t>단순한 카나리 흉내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이며, 세밀한 트래픽 비율 제어는 불가능하다.</a:t>
            </a:r>
          </a:p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정교한 카나리 배포는 </a:t>
            </a:r>
            <a:r>
              <a:rPr sz="1200" b="1" i="0">
                <a:solidFill>
                  <a:srgbClr val="111827"/>
                </a:solidFill>
                <a:latin typeface="Apple SD Gothic Neo"/>
              </a:rPr>
              <a:t>Argo Rollouts + Istio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 조합을 사용하는 것이 적합하다. → [09_argo_rollouts_istio_canary.md](./09_argo_rollouts_istio_canary.md) 참고</a:t>
            </a:r>
          </a:p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일시정지 상태에서 </a:t>
            </a:r>
            <a:r>
              <a:rPr sz="1200" b="0" i="0">
                <a:solidFill>
                  <a:srgbClr val="326CE5"/>
                </a:solidFill>
                <a:latin typeface="Menlo"/>
              </a:rPr>
              <a:t>kubectl rollout status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는 완료를 기다리며 블로킹된다.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2318918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일시정지 상태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2702966"/>
            <a:ext cx="11048695" cy="539496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2702966"/>
            <a:ext cx="54864" cy="539496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" y="2785262"/>
            <a:ext cx="10884103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kubectl get deployment my-app -o jsonpath='{.spec.paused}'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# 출력: true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Apple SD Gothic Neo"/>
              </a:rPr>
              <a:t>Kubernetes in Action · </a:t>
            </a:r>
            <a:r>
              <a:rPr sz="1000" b="1" i="0">
                <a:solidFill>
                  <a:srgbClr val="326CE5"/>
                </a:solidFill>
                <a:latin typeface="Apple SD Gothic Neo"/>
              </a:rPr>
              <a:t>Ch.9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15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Apple SD Gothic Neo"/>
              </a:rPr>
              <a:t>Kubernetes in Action — Chapter 9: Deployments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15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08990"/>
            <a:ext cx="110486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Apple SD Gothic Neo"/>
              </a:rPr>
              <a:t>minReadySeconds로 배포 속도 조절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089050"/>
            <a:ext cx="1104869" cy="18288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" y="1139342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개념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1523390"/>
            <a:ext cx="11048695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6CE5"/>
                </a:solidFill>
                <a:latin typeface="Menlo"/>
              </a:rPr>
              <a:t>minReadySeconds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는 새로 생성된 Pod가 </a:t>
            </a:r>
            <a:r>
              <a:rPr sz="1200" b="1" i="0">
                <a:solidFill>
                  <a:srgbClr val="111827"/>
                </a:solidFill>
                <a:latin typeface="Apple SD Gothic Neo"/>
              </a:rPr>
              <a:t>Ready 상태가 된 후, 다음 Pod 교체를 진행하기 전까지 기다리는 최소 시간(초)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이다.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1843430"/>
            <a:ext cx="11048695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Apple SD Gothic Neo"/>
              </a:rPr>
              <a:t>기본값은 </a:t>
            </a:r>
            <a:r>
              <a:rPr sz="1200" b="0" i="0">
                <a:solidFill>
                  <a:srgbClr val="326CE5"/>
                </a:solidFill>
                <a:latin typeface="Menlo"/>
              </a:rPr>
              <a:t>0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으로, Ready가 되는 즉시 다음 단계로 넘어간다.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2163470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설정 방법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2547518"/>
            <a:ext cx="11048695" cy="1385316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2547518"/>
            <a:ext cx="54864" cy="1385316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" y="2629814"/>
            <a:ext cx="10884103" cy="12207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spec: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minReadySeconds: 10   # 새 Pod가 Ready된 후 10초 대기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strategy: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type: RollingUpdate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rollingUpdate: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maxSurge: 1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maxUnavailable: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024274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왜 필요한가?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4408322"/>
            <a:ext cx="11048695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Apple SD Gothic Neo"/>
              </a:rPr>
              <a:t>Pod가 Ready 상태가 됐다고 해서 즉시 정상 트래픽을 처리할 수 있는 것은 아니다.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728362"/>
            <a:ext cx="110486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앱 내부 초기화(캐시 워밍, DB 커넥션 풀 준비 등)에 시간이 필요할 수 있다.</a:t>
            </a:r>
          </a:p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Readiness Probe가 통과하더라도 실제 성능이 안정화되기까지 시간이 걸릴 수 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277002"/>
            <a:ext cx="11048695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6CE5"/>
                </a:solidFill>
                <a:latin typeface="Menlo"/>
              </a:rPr>
              <a:t>minReadySeconds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를 설정하면 이 안정화 시간을 확보하면서 배포를 진행할 수 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Apple SD Gothic Neo"/>
              </a:rPr>
              <a:t>Kubernetes in Action · </a:t>
            </a:r>
            <a:r>
              <a:rPr sz="1000" b="1" i="0">
                <a:solidFill>
                  <a:srgbClr val="326CE5"/>
                </a:solidFill>
                <a:latin typeface="Apple SD Gothic Neo"/>
              </a:rPr>
              <a:t>Ch.9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16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Apple SD Gothic Neo"/>
              </a:rPr>
              <a:t>Kubernetes in Action — Chapter 9: Deployments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16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08990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롤아웃 타임아웃과의 관계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993038"/>
            <a:ext cx="11048695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6CE5"/>
                </a:solidFill>
                <a:latin typeface="Menlo"/>
              </a:rPr>
              <a:t>progressDeadlineSeconds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와 함께 사용하면, 배포가 지정된 시간 내에 진행되지 않으면 실패로 처리된다.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313078"/>
            <a:ext cx="11048695" cy="708659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1313078"/>
            <a:ext cx="54864" cy="708659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" y="1395374"/>
            <a:ext cx="10884103" cy="544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spec: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progressDeadlineSeconds: 600   # 10분 내에 배포 완료 안 되면 실패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minReadySeconds: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2113178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주의사항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2497226"/>
            <a:ext cx="11048695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26CE5"/>
                </a:solidFill>
                <a:latin typeface="Menlo"/>
              </a:rPr>
              <a:t>minReadySeconds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를 너무 크게 설정하면 전체 배포 시간이 크게 늘어난다.</a:t>
            </a:r>
          </a:p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26CE5"/>
                </a:solidFill>
                <a:latin typeface="Menlo"/>
              </a:rPr>
              <a:t>replicas × minReadySeconds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만큼 최소 배포 시간이 보장된다.</a:t>
            </a:r>
          </a:p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Readiness Probe와 함께 사용해야 의미가 있다. Probe 없이는 컨테이너 시작 즉시 Ready로 간주된다.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Apple SD Gothic Neo"/>
              </a:rPr>
              <a:t>Kubernetes in Action · </a:t>
            </a:r>
            <a:r>
              <a:rPr sz="1000" b="1" i="0">
                <a:solidFill>
                  <a:srgbClr val="326CE5"/>
                </a:solidFill>
                <a:latin typeface="Apple SD Gothic Neo"/>
              </a:rPr>
              <a:t>Ch.9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17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Apple SD Gothic Neo"/>
              </a:rPr>
              <a:t>Kubernetes in Action — Chapter 9: Deployments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17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08990"/>
            <a:ext cx="110486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Apple SD Gothic Neo"/>
              </a:rPr>
              <a:t>revisionHistoryLimit으로 롤백 가능한 히스토리 수 관리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089050"/>
            <a:ext cx="1104869" cy="18288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" y="1139342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개념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1523390"/>
            <a:ext cx="110486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6CE5"/>
                </a:solidFill>
                <a:latin typeface="Menlo"/>
              </a:rPr>
              <a:t>revisionHistoryLimit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은 Deployment가 </a:t>
            </a:r>
            <a:r>
              <a:rPr sz="1200" b="1" i="0">
                <a:solidFill>
                  <a:srgbClr val="111827"/>
                </a:solidFill>
                <a:latin typeface="Apple SD Gothic Neo"/>
              </a:rPr>
              <a:t>보존할 이전 ReplicaSet(리비전)의 최대 개수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를 지정한다. 이 수를 초과하는 오래된 ReplicaSet은 자동으로 삭제된다.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2072030"/>
            <a:ext cx="11048695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Apple SD Gothic Neo"/>
              </a:rPr>
              <a:t>기본값은 </a:t>
            </a:r>
            <a:r>
              <a:rPr sz="1200" b="0" i="0">
                <a:solidFill>
                  <a:srgbClr val="326CE5"/>
                </a:solidFill>
                <a:latin typeface="Menlo"/>
              </a:rPr>
              <a:t>10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이다.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2392070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설정 방법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2776118"/>
            <a:ext cx="11048695" cy="539496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2776118"/>
            <a:ext cx="54864" cy="539496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" y="2858414"/>
            <a:ext cx="10884103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spec: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revisionHistoryLimit: 3   # 최근 3개 리비전만 보존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3407054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동작 원리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3791102"/>
            <a:ext cx="11048695" cy="1046988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" y="3791102"/>
            <a:ext cx="54864" cy="1046988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" y="3873398"/>
            <a:ext cx="10884103" cy="8823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[revisionHistoryLimit: 3 일 때]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/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현재: revision 5 (active)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보존: revision 4, 3, 2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삭제: revision 1 이하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929530"/>
            <a:ext cx="110486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새 배포가 발생할 때마다 가장 오래된 리비전의 ReplicaSet이 삭제된다.</a:t>
            </a:r>
          </a:p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삭제된 리비전으로는 롤백할 수 없다.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Apple SD Gothic Neo"/>
              </a:rPr>
              <a:t>Kubernetes in Action · </a:t>
            </a:r>
            <a:r>
              <a:rPr sz="1000" b="1" i="0">
                <a:solidFill>
                  <a:srgbClr val="326CE5"/>
                </a:solidFill>
                <a:latin typeface="Apple SD Gothic Neo"/>
              </a:rPr>
              <a:t>Ch.9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18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Apple SD Gothic Neo"/>
              </a:rPr>
              <a:t>Kubernetes in Action — Chapter 9: Deployments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18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08990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트레이드오프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1500" y="993038"/>
          <a:ext cx="11048694" cy="822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2898"/>
                <a:gridCol w="3682898"/>
                <a:gridCol w="3682898"/>
              </a:tblGrid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26CE5"/>
                          </a:solidFill>
                          <a:latin typeface="Apple SD Gothic Neo"/>
                        </a:rPr>
                        <a:t>값</a:t>
                      </a:r>
                    </a:p>
                  </a:txBody>
                  <a:tcPr marL="73152" marR="73152" marT="36576" marB="36576">
                    <a:solidFill>
                      <a:srgbClr val="EEF3FD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26CE5"/>
                          </a:solidFill>
                          <a:latin typeface="Apple SD Gothic Neo"/>
                        </a:rPr>
                        <a:t>장점</a:t>
                      </a:r>
                    </a:p>
                  </a:txBody>
                  <a:tcPr marL="73152" marR="73152" marT="36576" marB="36576">
                    <a:solidFill>
                      <a:srgbClr val="EEF3FD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26CE5"/>
                          </a:solidFill>
                          <a:latin typeface="Apple SD Gothic Neo"/>
                        </a:rPr>
                        <a:t>단점</a:t>
                      </a:r>
                    </a:p>
                  </a:txBody>
                  <a:tcPr marL="73152" marR="73152" marT="36576" marB="36576">
                    <a:solidFill>
                      <a:srgbClr val="EEF3FD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크게 설정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더 오래된 버전으로 롤백 가능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미사용 ReplicaSet이 클러스터에 쌓임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</a:tr>
              <a:tr h="27432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작게 설정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클러스터 리소스 절약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롤백 가능한 버전 수 제한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1500" y="1962302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0으로 설정할 경우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2346350"/>
            <a:ext cx="11048695" cy="539496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2346350"/>
            <a:ext cx="54864" cy="539496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" y="2428646"/>
            <a:ext cx="10884103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spec: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revisionHistoryLimit: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2977286"/>
            <a:ext cx="11048695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Apple SD Gothic Neo"/>
              </a:rPr>
              <a:t>이전 ReplicaSet을 전혀 보존하지 않는다. 롤백이 불가능해지므로 운영 환경에서는 권장하지 않는다.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3297326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권장 설정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3681374"/>
            <a:ext cx="110486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운영 환경: </a:t>
            </a:r>
            <a:r>
              <a:rPr sz="1200" b="0" i="0">
                <a:solidFill>
                  <a:srgbClr val="326CE5"/>
                </a:solidFill>
                <a:latin typeface="Menlo"/>
              </a:rPr>
              <a:t>3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 ~ </a:t>
            </a:r>
            <a:r>
              <a:rPr sz="1200" b="0" i="0">
                <a:solidFill>
                  <a:srgbClr val="326CE5"/>
                </a:solidFill>
                <a:latin typeface="Menlo"/>
              </a:rPr>
              <a:t>5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 (최근 몇 번의 배포만 롤백 가능하면 충분)</a:t>
            </a:r>
          </a:p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자주 배포하는 환경: </a:t>
            </a:r>
            <a:r>
              <a:rPr sz="1200" b="0" i="0">
                <a:solidFill>
                  <a:srgbClr val="326CE5"/>
                </a:solidFill>
                <a:latin typeface="Menlo"/>
              </a:rPr>
              <a:t>2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 ~ </a:t>
            </a:r>
            <a:r>
              <a:rPr sz="1200" b="0" i="0">
                <a:solidFill>
                  <a:srgbClr val="326CE5"/>
                </a:solidFill>
                <a:latin typeface="Menlo"/>
              </a:rPr>
              <a:t>3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으로 낮춰 불필요한 리소스 낭비 방지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Apple SD Gothic Neo"/>
              </a:rPr>
              <a:t>Kubernetes in Action · </a:t>
            </a:r>
            <a:r>
              <a:rPr sz="1000" b="1" i="0">
                <a:solidFill>
                  <a:srgbClr val="326CE5"/>
                </a:solidFill>
                <a:latin typeface="Apple SD Gothic Neo"/>
              </a:rPr>
              <a:t>Ch.9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19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Apple SD Gothic Neo"/>
              </a:rPr>
              <a:t>Kubernetes in Action — Chapter 9: Deployments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19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08990"/>
            <a:ext cx="110486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Apple SD Gothic Neo"/>
              </a:rPr>
              <a:t>Argo Rollouts + Istio를 이용한 카나리 배포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089050"/>
            <a:ext cx="1104869" cy="18288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" y="1139342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Argo Rollouts 소개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1523390"/>
            <a:ext cx="110486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Apple SD Gothic Neo"/>
              </a:rPr>
              <a:t>Argo Rollouts는 Kubernetes의 기본 Deployment를 대체하는 </a:t>
            </a:r>
            <a:r>
              <a:rPr sz="1200" b="1" i="0">
                <a:solidFill>
                  <a:srgbClr val="111827"/>
                </a:solidFill>
                <a:latin typeface="Apple SD Gothic Neo"/>
              </a:rPr>
              <a:t>고급 배포 컨트롤러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다. </a:t>
            </a:r>
            <a:r>
              <a:rPr sz="1200" b="0" i="0">
                <a:solidFill>
                  <a:srgbClr val="326CE5"/>
                </a:solidFill>
                <a:latin typeface="Menlo"/>
              </a:rPr>
              <a:t>Rollout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이라는 CRD(Custom Resource Definition)를 제공하며, Deployment와 거의 동일한 스펙으로 사용할 수 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2072030"/>
            <a:ext cx="11048695" cy="2907792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2072030"/>
            <a:ext cx="54864" cy="2907792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" y="2154326"/>
            <a:ext cx="10884103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apiVersion: argoproj.io/v1alpha1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kind: Rollout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metadata: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name: my-app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spec: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replicas: 10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strategy: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canary: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steps: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- setWeight: 10   # 트래픽 10%를 새 버전으로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- pause: {}       # 수동 승인 대기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- setWeight: 50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- pause: {duration: 10m}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- setWeight: 100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template: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# ... Pod 스펙 (Deployment와 동일)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Apple SD Gothic Neo"/>
              </a:rPr>
              <a:t>Kubernetes in Action · </a:t>
            </a:r>
            <a:r>
              <a:rPr sz="1000" b="1" i="0">
                <a:solidFill>
                  <a:srgbClr val="326CE5"/>
                </a:solidFill>
                <a:latin typeface="Apple SD Gothic Neo"/>
              </a:rPr>
              <a:t>Ch.9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20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Apple SD Gothic Neo"/>
              </a:rPr>
              <a:t>Kubernetes in Action — Chapter 9: Deployments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20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08990"/>
            <a:ext cx="1104869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Apple SD Gothic Neo"/>
              </a:rPr>
              <a:t>기본 Deployment 대비 추가 기능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1500" y="947318"/>
          <a:ext cx="11048694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2898"/>
                <a:gridCol w="3682898"/>
                <a:gridCol w="3682898"/>
              </a:tblGrid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26CE5"/>
                          </a:solidFill>
                          <a:latin typeface="Apple SD Gothic Neo"/>
                        </a:rPr>
                        <a:t>기능</a:t>
                      </a:r>
                    </a:p>
                  </a:txBody>
                  <a:tcPr marL="73152" marR="73152" marT="36576" marB="36576">
                    <a:solidFill>
                      <a:srgbClr val="EEF3FD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26CE5"/>
                          </a:solidFill>
                          <a:latin typeface="Apple SD Gothic Neo"/>
                        </a:rPr>
                        <a:t>Deployment</a:t>
                      </a:r>
                    </a:p>
                  </a:txBody>
                  <a:tcPr marL="73152" marR="73152" marT="36576" marB="36576">
                    <a:solidFill>
                      <a:srgbClr val="EEF3FD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26CE5"/>
                          </a:solidFill>
                          <a:latin typeface="Apple SD Gothic Neo"/>
                        </a:rPr>
                        <a:t>Argo Rollouts</a:t>
                      </a:r>
                    </a:p>
                  </a:txBody>
                  <a:tcPr marL="73152" marR="73152" marT="36576" marB="36576">
                    <a:solidFill>
                      <a:srgbClr val="EEF3FD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롤링 업데이트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카나리 배포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흉내만 가능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O (단계별 제어)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블루/그린 배포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자동 분석(PromQL 등)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X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O (AnalysisRun)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수동 승인 게이트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1500" y="2739542"/>
            <a:ext cx="11048695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Apple SD Gothic Neo"/>
              </a:rPr>
              <a:t>---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059582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Argo Rollouts만으로는 카나리가 완벽하지 않은 이유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3443630"/>
            <a:ext cx="11048695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Apple SD Gothic Neo"/>
              </a:rPr>
              <a:t>Argo Rollouts의 </a:t>
            </a:r>
            <a:r>
              <a:rPr sz="1200" b="0" i="0">
                <a:solidFill>
                  <a:srgbClr val="326CE5"/>
                </a:solidFill>
                <a:latin typeface="Menlo"/>
              </a:rPr>
              <a:t>setWeight: 10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은 내부적으로 </a:t>
            </a:r>
            <a:r>
              <a:rPr sz="1200" b="1" i="0">
                <a:solidFill>
                  <a:srgbClr val="111827"/>
                </a:solidFill>
                <a:latin typeface="Apple SD Gothic Neo"/>
              </a:rPr>
              <a:t>Pod 수 비율 조정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으로 구현된다.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3763670"/>
            <a:ext cx="11048695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Apple SD Gothic Neo"/>
              </a:rPr>
              <a:t>예를 들어 전체 10개 Pod 중 1개만 새 버전으로 교체하면 약 10% 트래픽이 유입된다는 논리다.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4083710"/>
            <a:ext cx="11048695" cy="1385316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4083710"/>
            <a:ext cx="54864" cy="1385316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" y="4166006"/>
            <a:ext cx="10884103" cy="12207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replicas: 10, setWeight: 10%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/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v1 Pod × 9  ──┐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         ├── Service (랜덤 라운드로빈)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v2 Pod × 1  ──┘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/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→ 이론적으로 v2에 약 10% 트래픽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Apple SD Gothic Neo"/>
              </a:rPr>
              <a:t>Kubernetes in Action · </a:t>
            </a:r>
            <a:r>
              <a:rPr sz="1000" b="1" i="0">
                <a:solidFill>
                  <a:srgbClr val="326CE5"/>
                </a:solidFill>
                <a:latin typeface="Apple SD Gothic Neo"/>
              </a:rPr>
              <a:t>Ch.9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21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Apple SD Gothic Neo"/>
              </a:rPr>
              <a:t>Kubernetes in Action — Chapter 9: Deployments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21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08990"/>
            <a:ext cx="1104869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Apple SD Gothic Neo"/>
              </a:rPr>
              <a:t>문제점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947318"/>
            <a:ext cx="11048695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Apple SD Gothic Neo"/>
              </a:rPr>
              <a:t>① 정밀한 비율 제어 불가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267358"/>
            <a:ext cx="110486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Pod 수는 정수이므로, </a:t>
            </a:r>
            <a:r>
              <a:rPr sz="1200" b="0" i="0">
                <a:solidFill>
                  <a:srgbClr val="326CE5"/>
                </a:solidFill>
                <a:latin typeface="Menlo"/>
              </a:rPr>
              <a:t>replicas: 3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에서 10%를 표현하려면 Pod 0.3개가 필요 → 불가능</a:t>
            </a:r>
          </a:p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실제로는 </a:t>
            </a:r>
            <a:r>
              <a:rPr sz="1200" b="0" i="0">
                <a:solidFill>
                  <a:srgbClr val="326CE5"/>
                </a:solidFill>
                <a:latin typeface="Menlo"/>
              </a:rPr>
              <a:t>ceil(10% × 3) = 1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개 → </a:t>
            </a:r>
            <a:r>
              <a:rPr sz="1200" b="1" i="0">
                <a:solidFill>
                  <a:srgbClr val="111827"/>
                </a:solidFill>
                <a:latin typeface="Apple SD Gothic Neo"/>
              </a:rPr>
              <a:t>약 33%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 트래픽이 흘러들어감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1815998"/>
            <a:ext cx="11048695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Apple SD Gothic Neo"/>
              </a:rPr>
              <a:t>② 클라이언트 IP 기반 고정(Sticky Session) 불가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2136038"/>
            <a:ext cx="110486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Kubernetes Service의 기본 로드밸런싱은 랜덤이므로, 같은 사용자가 v1과 v2를 번갈아 받을 수 있음</a:t>
            </a:r>
          </a:p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특정 사용자 그룹만 카나리 버전에 노출시키는 것이 불가능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2684678"/>
            <a:ext cx="11048695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Apple SD Gothic Neo"/>
              </a:rPr>
              <a:t>③ 헤더/쿠키 기반 라우팅 불가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3004718"/>
            <a:ext cx="11048695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"내부 테스터에게만 v2 노출" 같은 조건부 라우팅을 구현할 수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3324758"/>
            <a:ext cx="11048695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Apple SD Gothic Neo"/>
              </a:rPr>
              <a:t>---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3644798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Istio와 조합하는 이유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028846"/>
            <a:ext cx="11048695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Apple SD Gothic Neo"/>
              </a:rPr>
              <a:t>Istio는 </a:t>
            </a:r>
            <a:r>
              <a:rPr sz="1200" b="1" i="0">
                <a:solidFill>
                  <a:srgbClr val="111827"/>
                </a:solidFill>
                <a:latin typeface="Apple SD Gothic Neo"/>
              </a:rPr>
              <a:t>서비스 메시(Service Mesh)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 로서 Pod 수와 무관하게 </a:t>
            </a:r>
            <a:r>
              <a:rPr sz="1200" b="1" i="0">
                <a:solidFill>
                  <a:srgbClr val="111827"/>
                </a:solidFill>
                <a:latin typeface="Apple SD Gothic Neo"/>
              </a:rPr>
              <a:t>트래픽 자체를 비율로 분할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할 수 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4348886"/>
            <a:ext cx="11048695" cy="1046988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" y="4348886"/>
            <a:ext cx="54864" cy="1046988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" y="4431182"/>
            <a:ext cx="10884103" cy="8823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Istio VirtualService: v1 90% / v2 10%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/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트래픽 100 ──► Istio Proxy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          ├── 90개 요청 → v1 Pod (몇 개든 상관없음)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          └── 10개 요청 → v2 Pod (1개뿐이어도 정확히 10%)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Apple SD Gothic Neo"/>
              </a:rPr>
              <a:t>Kubernetes in Action · </a:t>
            </a:r>
            <a:r>
              <a:rPr sz="1000" b="1" i="0">
                <a:solidFill>
                  <a:srgbClr val="326CE5"/>
                </a:solidFill>
                <a:latin typeface="Apple SD Gothic Neo"/>
              </a:rPr>
              <a:t>Ch.9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22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Apple SD Gothic Neo"/>
              </a:rPr>
              <a:t>Kubernetes in Action — Chapter 9: Deployments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22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08990"/>
            <a:ext cx="1104869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Apple SD Gothic Neo"/>
              </a:rPr>
              <a:t>Istio가 해결하는 문제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1500" y="947318"/>
          <a:ext cx="1104869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2898"/>
                <a:gridCol w="3682898"/>
                <a:gridCol w="3682898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26CE5"/>
                          </a:solidFill>
                          <a:latin typeface="Apple SD Gothic Neo"/>
                        </a:rPr>
                        <a:t>문제</a:t>
                      </a:r>
                    </a:p>
                  </a:txBody>
                  <a:tcPr marL="73152" marR="73152" marT="36576" marB="36576">
                    <a:solidFill>
                      <a:srgbClr val="EEF3FD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26CE5"/>
                          </a:solidFill>
                          <a:latin typeface="Apple SD Gothic Neo"/>
                        </a:rPr>
                        <a:t>Argo Rollouts 단독</a:t>
                      </a:r>
                    </a:p>
                  </a:txBody>
                  <a:tcPr marL="73152" marR="73152" marT="36576" marB="36576">
                    <a:solidFill>
                      <a:srgbClr val="EEF3FD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26CE5"/>
                          </a:solidFill>
                          <a:latin typeface="Apple SD Gothic Neo"/>
                        </a:rPr>
                        <a:t>Argo Rollouts + Istio</a:t>
                      </a:r>
                    </a:p>
                  </a:txBody>
                  <a:tcPr marL="73152" marR="73152" marT="36576" marB="36576">
                    <a:solidFill>
                      <a:srgbClr val="EEF3FD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정밀한 트래픽 비율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Pod 수에 종속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VirtualService weight로 정확히 제어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Sticky Session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불가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DestinationRule로 구현 가능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헤더/쿠키 기반 라우팅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불가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HTTPMatchRequest로 구현 가능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요청 수준 관찰 가능성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제한적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pple SD Gothic Neo"/>
                        </a:rPr>
                        <a:t>Kiali, Jaeger 등으로 상세 추적</a:t>
                      </a:r>
                    </a:p>
                  </a:txBody>
                  <a:tcPr marL="73152" marR="73152" marT="36576" marB="36576">
                    <a:solidFill>
                      <a:srgbClr val="F9FAFB"/>
                    </a:solidFill>
                    <a:lnL w="5080">
                      <a:solidFill>
                        <a:srgbClr val="F0F2F5"/>
                      </a:solidFill>
                    </a:lnL>
                    <a:lnR w="5080">
                      <a:solidFill>
                        <a:srgbClr val="F0F2F5"/>
                      </a:solidFill>
                    </a:lnR>
                    <a:lnT w="5080">
                      <a:solidFill>
                        <a:srgbClr val="F0F2F5"/>
                      </a:solidFill>
                    </a:lnT>
                    <a:lnB w="5080">
                      <a:solidFill>
                        <a:srgbClr val="F0F2F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1500" y="2465222"/>
            <a:ext cx="1104869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Apple SD Gothic Neo"/>
              </a:rPr>
              <a:t>통합 구성 예시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2803550"/>
            <a:ext cx="11048695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Apple SD Gothic Neo"/>
              </a:rPr>
              <a:t>Argo Rollouts에 Istio 연동을 선언하면, </a:t>
            </a:r>
            <a:r>
              <a:rPr sz="1200" b="0" i="0">
                <a:solidFill>
                  <a:srgbClr val="326CE5"/>
                </a:solidFill>
                <a:latin typeface="Menlo"/>
              </a:rPr>
              <a:t>setWeight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 실행 시 자동으로 VirtualService의 weight를 업데이트한다.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Apple SD Gothic Neo"/>
              </a:rPr>
              <a:t>Kubernetes in Action · </a:t>
            </a:r>
            <a:r>
              <a:rPr sz="1000" b="1" i="0">
                <a:solidFill>
                  <a:srgbClr val="326CE5"/>
                </a:solidFill>
                <a:latin typeface="Apple SD Gothic Neo"/>
              </a:rPr>
              <a:t>Ch.9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23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Apple SD Gothic Neo"/>
              </a:rPr>
              <a:t>Kubernetes in Action — Chapter 9: Deployments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23 / 24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608990"/>
            <a:ext cx="11048695" cy="2907792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608990"/>
            <a:ext cx="54864" cy="2907792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" y="691286"/>
            <a:ext cx="10884103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strategy: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canary: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trafficRouting: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istio: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  virtualService: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    name: my-app-vsvc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  destinationRule: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    name: my-app-destrule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    canarySubsetName: canary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    stableSubsetName: stable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steps: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- setWeight: 10   # → VirtualService weight 자동 변경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- pause: {duration: 5m}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- setWeight: 50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- pause: {}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- setWeight: 100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84124"/>
            <a:ext cx="640080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Apple SD Gothic Neo"/>
              </a:rPr>
              <a:t>Kubernetes in Action · </a:t>
            </a:r>
            <a:r>
              <a:rPr sz="1000" b="1" i="0">
                <a:solidFill>
                  <a:srgbClr val="326CE5"/>
                </a:solidFill>
                <a:latin typeface="Apple SD Gothic Neo"/>
              </a:rPr>
              <a:t>Ch.9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74275" y="84124"/>
            <a:ext cx="1645920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24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618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42278"/>
            <a:ext cx="12191695" cy="12801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6409944"/>
            <a:ext cx="822960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Apple SD Gothic Neo"/>
              </a:rPr>
              <a:t>Kubernetes in Action — Chapter 9: Deployments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4275" y="6409944"/>
            <a:ext cx="164592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Apple SD Gothic Neo"/>
              </a:rPr>
              <a:t>24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08990"/>
            <a:ext cx="1104869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Apple SD Gothic Neo"/>
              </a:rPr>
              <a:t>전체 흐름 요약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947318"/>
            <a:ext cx="11048695" cy="2738628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947318"/>
            <a:ext cx="54864" cy="2738628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" y="1029614"/>
            <a:ext cx="10884103" cy="25740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사용자 요청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│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▼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Istio Ingress Gateway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│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▼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VirtualService (weight 기반 분기)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├── 90% → DestinationRule stable → v1 Pod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└── 10% → DestinationRule canary → v2 Pod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              │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              ▼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      Argo Rollouts가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      단계별 weight 조정 + 자동 분석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      (AnalysisRun: Prometheus 지표 확인)</a:t>
            </a:r>
          </a:p>
          <a:p>
            <a:pPr algn="l"/>
            <a:r>
              <a:rPr sz="900" b="0" i="0">
                <a:solidFill>
                  <a:srgbClr val="1E3A8A"/>
                </a:solidFill>
                <a:latin typeface="Menlo"/>
              </a:rPr>
              <a:t>            → 이상 감지 시 자동 롤백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3777386"/>
            <a:ext cx="11048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26CE5"/>
                </a:solidFill>
                <a:latin typeface="Apple SD Gothic Neo"/>
              </a:rPr>
              <a:t>정리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161434"/>
            <a:ext cx="11048695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1" i="0">
                <a:solidFill>
                  <a:srgbClr val="111827"/>
                </a:solidFill>
                <a:latin typeface="Apple SD Gothic Neo"/>
              </a:rPr>
              <a:t>Argo Rollouts 단독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: Pod 수 비율로 트래픽 분기 → 소규모 replica에서 부정확, 세밀한 라우팅 불가</a:t>
            </a:r>
          </a:p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1" i="0">
                <a:solidFill>
                  <a:srgbClr val="111827"/>
                </a:solidFill>
                <a:latin typeface="Apple SD Gothic Neo"/>
              </a:rPr>
              <a:t>Istio 단독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: VirtualService로 정밀한 트래픽 제어 가능하나, 배포 단계 자동화·분석·롤백은 별도 구현 필요</a:t>
            </a:r>
          </a:p>
          <a:p>
            <a:pPr algn="l"/>
            <a:r>
              <a:rPr sz="1200" b="0" i="0">
                <a:solidFill>
                  <a:srgbClr val="326CE5"/>
                </a:solidFill>
                <a:latin typeface="Apple SD Gothic Neo"/>
              </a:rPr>
              <a:t>● </a:t>
            </a:r>
            <a:r>
              <a:rPr sz="1200" b="1" i="0">
                <a:solidFill>
                  <a:srgbClr val="111827"/>
                </a:solidFill>
                <a:latin typeface="Apple SD Gothic Neo"/>
              </a:rPr>
              <a:t>Argo Rollouts + Istio 조합</a:t>
            </a:r>
            <a:r>
              <a:rPr sz="1200" b="0" i="0">
                <a:solidFill>
                  <a:srgbClr val="374151"/>
                </a:solidFill>
                <a:latin typeface="Apple SD Gothic Neo"/>
              </a:rPr>
              <a:t>: 정밀한 트래픽 제어(Istio) + 단계별 자동화·분석·롤백(Argo Rollouts) → 프로덕션 수준의 카나리 배포 구현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