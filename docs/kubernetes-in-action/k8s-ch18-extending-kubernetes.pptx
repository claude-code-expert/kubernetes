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vaE0kNvffKcvicZdlzuuT9YDB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19DFF6-8513-49E8-9598-066D004B1E88}">
  <a:tblStyle styleId="{FC19DFF6-8513-49E8-9598-066D004B1E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822960" y="-822960"/>
            <a:ext cx="3291840" cy="3291840"/>
          </a:xfrm>
          <a:prstGeom prst="ellipse">
            <a:avLst/>
          </a:prstGeom>
          <a:solidFill>
            <a:srgbClr val="4A7E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286000" y="640080"/>
            <a:ext cx="1737360" cy="1737360"/>
          </a:xfrm>
          <a:prstGeom prst="ellipse">
            <a:avLst/>
          </a:prstGeom>
          <a:solidFill>
            <a:srgbClr val="4A7E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02920" y="3566160"/>
            <a:ext cx="32689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DCCF8"/>
                </a:solidFill>
                <a:latin typeface="Arial"/>
                <a:ea typeface="Arial"/>
                <a:cs typeface="Arial"/>
                <a:sym typeface="Arial"/>
              </a:rPr>
              <a:t>CHAPTER 18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3977639"/>
            <a:ext cx="32689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502920" y="5166360"/>
            <a:ext cx="502920" cy="22860"/>
          </a:xfrm>
          <a:prstGeom prst="rect">
            <a:avLst/>
          </a:prstGeom>
          <a:solidFill>
            <a:srgbClr val="ADCC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02920" y="5349240"/>
            <a:ext cx="32689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ADCCF8"/>
                </a:solidFill>
                <a:latin typeface="Arial"/>
                <a:ea typeface="Arial"/>
                <a:cs typeface="Arial"/>
                <a:sym typeface="Arial"/>
              </a:rPr>
              <a:t>PRESENTER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김도엽 (Brian)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ADCCF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2026. 06. 14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27482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41198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4914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68630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823459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96062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097779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523494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427482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441198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54914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68630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823459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496062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097779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23494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427482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41198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54914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68630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823459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496062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5097779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523494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427482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441198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454914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468630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4823459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496062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5097779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23494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427482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441198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454914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468630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4823459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496062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5097779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523494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427482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441198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454914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468630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823459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96062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5097779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523494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4594860" y="1874519"/>
            <a:ext cx="3200400" cy="329184"/>
          </a:xfrm>
          <a:prstGeom prst="rect">
            <a:avLst/>
          </a:prstGeom>
          <a:solidFill>
            <a:srgbClr val="EEF3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4713732" y="19202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Extending Kubernetes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>
            <a:off x="4594860" y="2377440"/>
            <a:ext cx="736823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쿠버네티스 확장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CRD · 커스텀 컨트롤러 · Service Catalog · PaaS 플랫폼</a:t>
            </a:r>
            <a:endParaRPr/>
          </a:p>
        </p:txBody>
      </p:sp>
      <p:sp>
        <p:nvSpPr>
          <p:cNvPr id="142" name="Google Shape;142;p1"/>
          <p:cNvSpPr txBox="1"/>
          <p:nvPr/>
        </p:nvSpPr>
        <p:spPr>
          <a:xfrm>
            <a:off x="4594860" y="4709160"/>
            <a:ext cx="736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B7280"/>
                </a:solidFill>
              </a:rPr>
              <a:t>CRD를 이용하여 쿠버네티스 확장하기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4000500" y="6821424"/>
            <a:ext cx="8191195" cy="36576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02 / 21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02 / 21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목차 — Chapter 18 구성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이번 장에서 다루는 내용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18.1 커스텀 API 오브젝트 정의 (CRD, 컨트롤러, 검증, API서버)</a:t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18.2 Kubernetes Service Catalog (역사적 배경 + ⚠️ 폐기)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18.3 쿠버네티스 위의 플랫폼 (OpenShift, Deis, Helm)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⚠️ 현행화 포인트 (2026 기준)</a:t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571500" y="3425342"/>
            <a:ext cx="11048695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Service Catalog → 폐기됨. Operator Framework/OLM으로 대체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Deis Workflow → 2017년 종료. 현재는 유지되지 않음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CRD 검증: Admission Webhook → CEL (K8s 1.29 GA)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03 / 21</a:t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03 / 21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18.1 커스텀 API 오브젝트 정의 — 왜 확장이 필요한가?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쿠버네티스의 한계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쿠버네티스가 기본 제공하는 오브젝트(Pod, Deployment, Service 등)는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범용적이고 저수준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이다. 도메인 특화 오브젝트(예: Database, Queue, Certificate)를 표현하려면 별도 확장이 필요하다.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쿠버네티스 확장의 세 가지 방법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CRD (CustomResourceDefinition)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커스텀 API 서버 (Aggregated API)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Admission Webhook / CEL 검증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확장의 핵심: CRD + 커스텀 컨트롤러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571500" y="3425342"/>
            <a:ext cx="110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CRD로 새 리소스 타입을 정의하고, 커스텀 컨트롤러가 해당 리소스의 원하는 상태(desired state)를 실제 상태(actual state)로 맞춘다.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이 패턴이 현재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Operator 패턴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의 기반이며, 쿠버네티스 생태계에서 가장 널리 사용되는 확장 방식이다.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04 / 21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04 / 21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CustomResourceDefinition (CRD) — 새 리소스 타입 등록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CRD란?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CRD는 쿠버네티스 API를 확장해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사용자 정의 리소스 타입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을 등록할 수 있게 해준다. CRD를 생성하면 kubectl로 해당 리소스를 다른 기본 리소스처럼 생성·조회·삭제할 수 있다.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CRD의 구성 요소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group: 리소스 API 그룹 (예: example.com)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version: API 버전 (v1, v1alpha1 등)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scope: Namespaced or Cluster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CRD 등록 후 사용 예시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571500" y="3425342"/>
            <a:ext cx="110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kubectl apply -f website-crd.yaml  # CRD 등록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kubectl apply -f my-website.yaml  # CR 인스턴스 생성kubectl get websites                # 조회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05 / 21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05 / 21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CRD 정의 예시 — Website 리소스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571500" y="993038"/>
            <a:ext cx="11048695" cy="3076956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71500" y="993038"/>
            <a:ext cx="54864" cy="3076956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681228" y="1075334"/>
            <a:ext cx="10884103" cy="2912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apiVersion: apiextensions.k8s.io/v1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kind: CustomResourceDefinition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metadata: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name: websites.extensions.example.com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spec: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group: extensions.example.com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scope: Namespaced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names: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kind: Website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plural: websites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versions: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- name: 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served: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storage: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schema: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  openAPIV3Schema: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      type: object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06 / 21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06 / 21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커스텀 컨트롤러 — Reconciliation Loop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컨트롤러란?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커스텀 컨트롤러는 CRD로 정의된 리소스의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원하는 상태(Desired State)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를 감시하고, 실제 상태(Actual State)와 일치하도록 조정(Reconcile)한다.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Reconciliation Loop 동작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571500" y="2456078"/>
            <a:ext cx="11048695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Deployment가 새 이미지로 새 ReplicaSet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새 ReplicaSet의 replica를 1씩 증가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기존 ReplicaSet의 replica를 1씩 감소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모든 Pod가 교체될 때까지 반복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571500" y="3461918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71500" y="3461918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681228" y="3544214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Watch(CRD) → Diff(desired, actual) → 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Website CR 생성 → 컨트롤러가 Deployment+Service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Website CR 삭제 → 컨트롤러가 관련 리소스 정리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Website CR spec 변경 → 컨트롤러가 업데이트 적용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07 / 21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07 / 21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Operator 패턴 — 2026년 현재의 Best Practice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Operator란?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Operator = CRD + 커스텀 컨트롤러의 조합.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도메인 지식을 코드로 인코딩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해 운영자 없이도 복잡한 상태를 자동 관리한다. (e.g. etcd-operator, prometheus-operator)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✅ 현재 Operator 개발 도구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Operator SDK (Go / Ansible / Helm 기반)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controller-runtime 라이브러리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kubebuilder 프레임워크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OperatorHub &amp; 생태계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operatorhub.io에 700개 이상의 Operator 등록 (2026 기준). Crossplane, Cluster API 등 대규모 플랫폼도 Operator 패턴 기반으로 구현된다.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08 / 21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08 / 21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커스텀 오브젝트 검증 (1판 방식)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71500" y="993038"/>
            <a:ext cx="11048695" cy="1046988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71500" y="993038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81228" y="1075334"/>
            <a:ext cx="10884103" cy="88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# CRD에 OpenAPI v3 schema 정의 (기본 검증)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spec.validation.openAPIV3Schema: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571500" y="2131466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복잡한 검증 — Validating Admission Webhook</a:t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71500" y="2515514"/>
            <a:ext cx="11048695" cy="1046988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71500" y="2515514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681228" y="2597810"/>
            <a:ext cx="10884103" cy="88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# 1판 당시 복잡한 검증 유일한 방법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apiVersion: admissionregistration.k8s.io/v1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kind: ValidatingWebhookConfiguration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webhooks: [{name: validate.example.com}]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571500" y="36539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Webhook 방식의 단점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571500" y="4037990"/>
            <a:ext cx="11048695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별도 TLS 인증서 관리 필요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클러스터 장애 시 Webhook 서버도 영향받을 수 있음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디버깅 복잡도 증가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09 / 21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09 / 21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⚠️ 현행화: CEL 기반 CRD 검증 (K8s 1.29 GA)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CEL(Common Expression Language)이란?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1판에서 복잡한 검증을 위해 Admission Webhook을 써야 했던 한계가 해소됨. K8s 1.25부터 베타,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1.29에서 GA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CRD 스키마 내부에서 직접 검증 규칙을 선언적으로 작성할 수 있다.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CEL 검증 사용 예시 (CRD spec)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571500" y="2456078"/>
            <a:ext cx="11048695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x-kubernetes-validations: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 - rule: "self.minReplicas &lt;= self.replicas"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   message: "minReplicas must be &lt;= replicas"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 - rule: "self.replicas &lt;= self.maxReplicas"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71500" y="3461918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71500" y="3461918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681228" y="3544214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Webhook 없이 인라인 검증 — 별도 서버 불필요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CRD 등록 시 표현식 컴파일·타입체크 수행 (빠른 오류 감지)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Gateway API 등 주요 프로젝트가 이미 CEL로 전환 완료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1판의 Webhook 방식은 이제 복잡한 cross-field 검증에서만 유지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10 / 21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10 / 21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18.1.4 커스텀 API 서버 — Aggregation Layer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언제 CRD 대신 커스텀 API 서버를?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CRD는 etcd에 리소스를 저장하는 단순 방식. 커스텀 API 서버(Extension API Server)는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자체 스토리지·로직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이 필요할 때 사용. kube-apiserver가 프록시 역할을 한다.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Aggregation Layer 동작 방식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APIService 오브젝트로 extension server 등록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kube-apiserver → /apis/custom.io → extension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metrics-server, custom.metrics.k8s.io 가 대표 사례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현재 상태 (2026)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여전히 지원되며 안정적인 확장 메커니즘. 그러나 대부분의 경우 CRD로 충분하며, 커스텀 API 서버는 특수 요구사항(자체 스토리지, 복잡한 subresource)에서만 사용.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11 / 21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11 / 21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CRD vs 커스텀 API 서버 비교</a:t>
            </a:r>
            <a:endParaRPr/>
          </a:p>
        </p:txBody>
      </p:sp>
      <p:graphicFrame>
        <p:nvGraphicFramePr>
          <p:cNvPr id="332" name="Google Shape;332;p11"/>
          <p:cNvGraphicFramePr/>
          <p:nvPr/>
        </p:nvGraphicFramePr>
        <p:xfrm>
          <a:off x="571500" y="993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{FC19DFF6-8513-49E8-9598-066D004B1E88}</a:tableStyleId>
              </a:tblPr>
              <a:tblGrid>
                <a:gridCol w="3682900"/>
                <a:gridCol w="3682900"/>
                <a:gridCol w="36829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CRD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커스텀 API 서버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스토리지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구현 복잡도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 권장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11"/>
          <p:cNvSpPr txBox="1"/>
          <p:nvPr/>
        </p:nvSpPr>
        <p:spPr>
          <a:xfrm>
            <a:off x="571500" y="2510942"/>
            <a:ext cx="11048695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대부분의 경우 CRD로 충분. 자체 스토리지나 복잡한 subresource가 필요한 경우에만 커스텀 API 서버 사용을 권장.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 / 21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 / 21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18.2 Kubernetes Service Catalog — 서비스 자동 프로비저닝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Service Catalog란? (1판 기준)</a:t>
            </a:r>
            <a:endParaRPr/>
          </a:p>
        </p:txBody>
      </p:sp>
      <p:sp>
        <p:nvSpPr>
          <p:cNvPr id="348" name="Google Shape;348;p12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Service Catalog는 클러스터 외부 서비스(DB, 메시지 큐 등)를 쿠버네티스 오브젝트처럼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선언적으로 프로비저닝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할 수 있게 해주는 확장 API다. 개발자는 인프라 세부사항 없이 서비스를 요청할 수 있다.</a:t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Service Catalog 아키텍처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Service Catalog API 서버 + Controller Manager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Service Broker (외부 서비스 공급자 인터페이스)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ServiceInstance, ServiceBinding 오브젝트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주요 오브젝트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571500" y="3425342"/>
            <a:ext cx="110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ClusterServiceBroker: 브로커 등록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ServiceInstance: 서비스 인스턴스 생성 요청ServiceBinding: Secret으로 접속 정보 주입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360" name="Google Shape;360;p1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13 / 21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13 / 21</a:t>
            </a:r>
            <a:endParaRPr/>
          </a:p>
        </p:txBody>
      </p:sp>
      <p:sp>
        <p:nvSpPr>
          <p:cNvPr id="365" name="Google Shape;365;p13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OpenServiceBroker API — 서비스 브로커 프로토콜</a:t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OpenServiceBroker API란?</a:t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Service Broker와 플랫폼 간의 표준 REST API. AWS, GCP, Azure 등 클라우드 서비스를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동일한 인터페이스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로 프로비저닝할 수 있게 한다.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ServiceInstance 프로비저닝 흐름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571500" y="2456078"/>
            <a:ext cx="11048695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Deployment가 새 이미지로 새 ReplicaSet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새 ReplicaSet의 replica를 1씩 증가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기존 ReplicaSet의 replica를 1씩 감소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  ›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모든 Pod가 교체될 때까지 반복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571500" y="3461918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571500" y="3461918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681228" y="3544214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kubectl create ServiceInstance my-db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--class postgresql --plan standard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380" name="Google Shape;380;p14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14 / 21</a:t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384" name="Google Shape;384;p14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14 / 21</a:t>
            </a:r>
            <a:endParaRPr/>
          </a:p>
        </p:txBody>
      </p:sp>
      <p:sp>
        <p:nvSpPr>
          <p:cNvPr id="385" name="Google Shape;385;p14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⚠️ 현행화: Service Catalog 폐기 — Operator Framework/OLM</a:t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Service Catalog는 폐기됨</a:t>
            </a:r>
            <a:endParaRPr/>
          </a:p>
        </p:txBody>
      </p:sp>
      <p:sp>
        <p:nvSpPr>
          <p:cNvPr id="388" name="Google Shape;388;p14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Kubernetes Service Catalog는 OpenShift 4.2에서 폐기 예고, 4.4에서 완전 제거. 쿠버네티스 SIG-Service-Catalog 프로젝트도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아카이브 상태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1판에서 소개된 이 기능은 현재 사용 불가.</a:t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✅ 현재 대안: Operator Framework + OLM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OperatorHub.io에서 서비스 검색 및 설치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OLM(Operator Lifecycle Manager)이 Operator 생명주기 관리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Crossplane: 클라우드 리소스를 CRD로 관리 (2026 주류)</a:t>
            </a:r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핵심 차이</a:t>
            </a:r>
            <a:endParaRPr/>
          </a:p>
        </p:txBody>
      </p:sp>
      <p:sp>
        <p:nvSpPr>
          <p:cNvPr id="393" name="Google Shape;393;p14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Service Catalog는 외부 브로커 API에 의존했지만, Operator 패턴은 클러스터 내부에서 모든 것을 쿠버네티스 방식으로 처리한다. 더 안정적이고 쿠버네티스 네이티브한 접근법.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15 / 21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15 / 21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18.3 쿠버네티스 위에 구축된 플랫폼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PaaS on Kubernetes</a:t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쿠버네티스를 기반으로 더 높은 수준의 개발자 경험(DX)을 제공하는 플랫폼들. 1판에서는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세 가지 주요 플랫폼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을 소개한다: OpenShift, Deis Workflow, Helm. 각각의 현재 상태는 크게 달라졌다.</a:t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세 플랫폼의 2026년 현황 요약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OpenShift (Red Hat) → ✅ 여전히 주요 Enterprise K8s 플랫폼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Deis Workflow → ❌ 2017년 종료, 더 이상 유지되지 않음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Helm → ✅ 사실상 표준 패키지 매니저로 자리잡음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배울 점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1판 출간(2017) 당시 유망했던 Deis가 사라진 반면, Helm은 오히려 더 커졌다. 기술 선택에서 생태계 지속성을 고려해야 함을 보여주는 사례.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420" name="Google Shape;420;p16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16 / 21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424" name="Google Shape;424;p16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16 / 21</a:t>
            </a:r>
            <a:endParaRPr/>
          </a:p>
        </p:txBody>
      </p:sp>
      <p:sp>
        <p:nvSpPr>
          <p:cNvPr id="425" name="Google Shape;425;p16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18.3.1 Red Hat OpenShift Container Platform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1판 당시 OpenShift (v3.x)</a:t>
            </a:r>
            <a:endParaRPr/>
          </a:p>
        </p:txBody>
      </p:sp>
      <p:sp>
        <p:nvSpPr>
          <p:cNvPr id="428" name="Google Shape;428;p16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쿠버네티스 기반 엔터프라이즈 PaaS.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Source-to-Image(S2I)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통합 레지스트리, Route 오브젝트(Ingress) 등 쿠버네티스에 없는 기능을 추가.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✅ 현재 OpenShift 4.x (2026)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OKD 4 기반 → Operator 중심 아키텍처로 전환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Service Catalog 완전 제거 → OLM/OperatorHub로 대체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ClusterOperator CRD로 클러스터 구성요소 자체 관리</a:t>
            </a:r>
            <a:endParaRPr/>
          </a:p>
        </p:txBody>
      </p:sp>
      <p:sp>
        <p:nvSpPr>
          <p:cNvPr id="432" name="Google Shape;432;p16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OpenShift의 현재 위상</a:t>
            </a:r>
            <a:endParaRPr/>
          </a:p>
        </p:txBody>
      </p:sp>
      <p:sp>
        <p:nvSpPr>
          <p:cNvPr id="433" name="Google Shape;433;p16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엔터프라이즈 쿠버네티스 시장에서 여전히 강자. 1판에서 소개된 S2I, Route 등은 유지되나, 전체 아키텍처는 Operator 패턴 중심으로 대폭 진화함.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440" name="Google Shape;440;p17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17 / 21</a:t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17 / 21</a:t>
            </a:r>
            <a:endParaRPr/>
          </a:p>
        </p:txBody>
      </p:sp>
      <p:sp>
        <p:nvSpPr>
          <p:cNvPr id="445" name="Google Shape;445;p17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18.3.2 Deis Workflow — 쿠버네티스 위의 PaaS (1판 기준)</a:t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Deis Workflow란?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Heroku 스타일 개발 경험을 쿠버네티스 위에서 제공하는 오픈소스 PaaS. git push로 배포,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자동 빌드·배포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스케일링, 롤백을 한 번에 처리.</a:t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Deis Workflow 주요 특징 (1판 당시)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git push deis master → 자동 빌드 + 배포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Buildpack 기반 빌드 (Heroku 호환)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deis scale web=3 으로 손쉬운 스케일링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Deis Workflow 아키텍처</a:t>
            </a:r>
            <a:endParaRPr/>
          </a:p>
        </p:txBody>
      </p:sp>
      <p:sp>
        <p:nvSpPr>
          <p:cNvPr id="453" name="Google Shape;453;p17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Router, Builder, Controller, Registry, Database 등 여러 컴포넌트로 구성. 각 컴포넌트가 쿠버네티스 Service와 Deployment로 배포됨.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18 / 21</a:t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18 / 21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⚠️ 현행화: Deis Workflow 종료 (2017) — 현재 대안</a:t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Deis Workflow 종료 타임라인</a:t>
            </a:r>
            <a:endParaRPr/>
          </a:p>
        </p:txBody>
      </p:sp>
      <p:sp>
        <p:nvSpPr>
          <p:cNvPr id="468" name="Google Shape;468;p18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2017년 9월 Microsoft가 Deis를 인수 후 Workflow v2.18을 마지막으로 유지보수 모드 진입.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2018년 3월 완전 종료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GitHub 저장소는 아카이브 상태로 남아있다.</a:t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✅ 현재 대안 (2026)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Knative: 서버리스 워크로드 플랫폼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Porter / Epinio: Heroku 스타일 PaaS on K8s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Railway / Render: 매니지드 PaaS (쿠버네티스 기반)</a:t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Hephy (커뮤니티 포크)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Deis Workflow를 포크한 Hephy 프로젝트가 커뮤니티에서 유지되고 있으나, 규모가 작고 공식 지원이 없다. 새 프로젝트에서는 사용 비권장.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480" name="Google Shape;480;p19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19 / 21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19 / 21</a:t>
            </a:r>
            <a:endParaRPr/>
          </a:p>
        </p:txBody>
      </p:sp>
      <p:sp>
        <p:nvSpPr>
          <p:cNvPr id="485" name="Google Shape;485;p19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18.3.2 Helm — 쿠버네티스 패키지 매니저 (여전히 표준)</a:t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Helm이란?</a:t>
            </a:r>
            <a:endParaRPr/>
          </a:p>
        </p:txBody>
      </p:sp>
      <p:sp>
        <p:nvSpPr>
          <p:cNvPr id="488" name="Google Shape;488;p19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1판에서 Deis와 함께 소개된 Helm. 차이는 Helm은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지금도 쿠버네티스의 사실상 표준 패키지 매니저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다. Chart로 복잡한 앱을 한 번에 배포하고 버전 관리할 수 있다.</a:t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Helm 3 주요 변경사항 (1판 대비)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Tiller 제거 (보안 문제 해소) — 클라이언트 전용 아키텍처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네임스페이스 기반 릴리즈 관리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OCI 레지스트리에 Chart 저장 지원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현재 Helm 생태계 (2026)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571500" y="3425342"/>
            <a:ext cx="110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ArtifactHub.io에 수만 개 Chart 제공. ArgoCD, Flux 등 GitOps 도구와 통합되어 사용. Helm Chart는 이제 거의 모든 오픈소스 프로젝트의 공식 배포 형식이다.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500" name="Google Shape;500;p20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20 / 21</a:t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504" name="Google Shape;504;p20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20 / 21</a:t>
            </a:r>
            <a:endParaRPr/>
          </a:p>
        </p:txBody>
      </p:sp>
      <p:sp>
        <p:nvSpPr>
          <p:cNvPr id="505" name="Google Shape;505;p20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1판 vs 2026 현재 — 주요 변경사항 요약</a:t>
            </a:r>
            <a:endParaRPr/>
          </a:p>
        </p:txBody>
      </p:sp>
      <p:graphicFrame>
        <p:nvGraphicFramePr>
          <p:cNvPr id="506" name="Google Shape;506;p20"/>
          <p:cNvGraphicFramePr/>
          <p:nvPr/>
        </p:nvGraphicFramePr>
        <p:xfrm>
          <a:off x="571500" y="993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{FC19DFF6-8513-49E8-9598-066D004B1E88}</a:tableStyleId>
              </a:tblPr>
              <a:tblGrid>
                <a:gridCol w="3682900"/>
                <a:gridCol w="3682900"/>
                <a:gridCol w="36829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1판 (2017)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26C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현재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CRD API 버전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CRD 검증 방식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Catalog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Deis Workflow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36575" marB="36575" marR="73150" marL="73150">
                    <a:lnL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2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20"/>
          <p:cNvSpPr txBox="1"/>
          <p:nvPr/>
        </p:nvSpPr>
        <p:spPr>
          <a:xfrm>
            <a:off x="571500" y="2510942"/>
            <a:ext cx="11048695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Deis Workflow는 종료, Service Catalog는 폐기. CRD 검증은 CEL로 현대화. Helm은 여전히 표준.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Kubernetes in Action · </a:t>
            </a:r>
            <a:r>
              <a:rPr b="1" i="0" lang="en-US" sz="10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Ch.18</a:t>
            </a:r>
            <a:endParaRPr/>
          </a:p>
        </p:txBody>
      </p:sp>
      <p:sp>
        <p:nvSpPr>
          <p:cNvPr id="514" name="Google Shape;514;p21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21 / 21</a:t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Kubernetes in Action — Chapter 18: Extending Kubernetes</a:t>
            </a:r>
            <a:endParaRPr/>
          </a:p>
        </p:txBody>
      </p:sp>
      <p:sp>
        <p:nvSpPr>
          <p:cNvPr id="518" name="Google Shape;518;p21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21 / 21</a:t>
            </a:r>
            <a:endParaRPr/>
          </a:p>
        </p:txBody>
      </p:sp>
      <p:sp>
        <p:nvSpPr>
          <p:cNvPr id="519" name="Google Shape;519;p21"/>
          <p:cNvSpPr txBox="1"/>
          <p:nvPr/>
        </p:nvSpPr>
        <p:spPr>
          <a:xfrm>
            <a:off x="571500" y="608990"/>
            <a:ext cx="11048695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Chapter 18 핵심 요약</a:t>
            </a:r>
            <a:endParaRPr/>
          </a:p>
        </p:txBody>
      </p:sp>
      <p:sp>
        <p:nvSpPr>
          <p:cNvPr id="520" name="Google Shape;520;p21"/>
          <p:cNvSpPr/>
          <p:nvPr/>
        </p:nvSpPr>
        <p:spPr>
          <a:xfrm>
            <a:off x="571500" y="947318"/>
            <a:ext cx="11048695" cy="2738628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571500" y="947318"/>
            <a:ext cx="54864" cy="2738628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681228" y="1029614"/>
            <a:ext cx="10884103" cy="2574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18.1 커스텀 API 오브젝트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CRD + 커스텀 컨트롤러 = Operator 패턴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검증: CEL(1.29 GA)으로 Webhook 없이 인라인 검증 가능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18.2 Service Catalog → ⚠️ 폐기됨 (OLM/Crossplane으로 대체)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현재는 Operator Framework / OLM / Crossplane 사용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18.3 플랫폼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OpenShift → ✅ 진화 (Operator 중심 아키텍처)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Deis Workflow → ❌ 2017년 종료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 Helm → ✅ 사실상 표준 패키지 매니저 (Helm 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1"/>
          <p:cNvSpPr txBox="1"/>
          <p:nvPr/>
        </p:nvSpPr>
        <p:spPr>
          <a:xfrm>
            <a:off x="571500" y="3777386"/>
            <a:ext cx="110486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/>
          </a:p>
        </p:txBody>
      </p:sp>
      <p:sp>
        <p:nvSpPr>
          <p:cNvPr id="524" name="Google Shape;524;p21"/>
          <p:cNvSpPr txBox="1"/>
          <p:nvPr/>
        </p:nvSpPr>
        <p:spPr>
          <a:xfrm>
            <a:off x="571500" y="4161434"/>
            <a:ext cx="11048695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CRD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와 커스텀 컨트롤러로 쿠버네티스를 도메인에 맞게 확장하라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Operator 패턴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이 현재 쿠버네티스 확장의 표준 방식이다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26CE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1판의 일부 기능</a:t>
            </a:r>
            <a:r>
              <a:rPr b="0" i="0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(Service Catalog, Deis)은 폐기됨 — 현재 상태 확인 필수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