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80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836600" y="1007999"/>
            <a:ext cx="2520000" cy="396000"/>
          </a:xfrm>
          <a:prstGeom prst="roundRect">
            <a:avLst>
              <a:gd name="adj" fmla="val 50000"/>
            </a:avLst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Chapter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0" y="1728000"/>
            <a:ext cx="10033200" cy="1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3060000"/>
            <a:ext cx="100332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A0B8D8"/>
                </a:solidFill>
              </a:rPr>
              <a:t>컨테이너에 디스크 스토리지 연결하기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3671999"/>
            <a:ext cx="3553199" cy="216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3888000"/>
            <a:ext cx="100332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6A8AAA"/>
                </a:solidFill>
              </a:rPr>
              <a:t>Kubernetes in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4320000"/>
            <a:ext cx="100332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CCDDEE"/>
                </a:solidFill>
              </a:rPr>
              <a:t>발표자  |  김도엽 (Brian)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400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51999"/>
            <a:ext cx="111132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파일시스템은 공유되지 않는다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900000"/>
            <a:ext cx="11113200" cy="4680000"/>
          </a:xfrm>
          <a:prstGeom prst="roundRect">
            <a:avLst>
              <a:gd name="adj" fmla="val 5000"/>
            </a:avLst>
          </a:prstGeom>
          <a:solidFill>
            <a:srgbClr val="12263D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972000"/>
            <a:ext cx="108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326CE5"/>
                </a:solidFill>
              </a:rPr>
              <a:t>Pod</a:t>
            </a:r>
          </a:p>
        </p:txBody>
      </p:sp>
      <p:sp>
        <p:nvSpPr>
          <p:cNvPr id="7" name="Rectangle 6"/>
          <p:cNvSpPr/>
          <p:nvPr/>
        </p:nvSpPr>
        <p:spPr>
          <a:xfrm>
            <a:off x="900000" y="1296000"/>
            <a:ext cx="10393200" cy="360000"/>
          </a:xfrm>
          <a:prstGeom prst="rect">
            <a:avLst/>
          </a:prstGeom>
          <a:solidFill>
            <a:srgbClr val="1A56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8000" y="1350000"/>
            <a:ext cx="101772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2ECC71"/>
                </a:solidFill>
              </a:rPr>
              <a:t>✓  Network Namespace 공유  —  동일 IP / localhost 통신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000" y="1764000"/>
            <a:ext cx="5088600" cy="2340000"/>
          </a:xfrm>
          <a:prstGeom prst="roundRect">
            <a:avLst>
              <a:gd name="adj" fmla="val 4000"/>
            </a:avLst>
          </a:prstGeom>
          <a:solidFill>
            <a:srgbClr val="142238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0000" y="1836000"/>
            <a:ext cx="4908600" cy="23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Container A  (app)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2124000"/>
            <a:ext cx="48726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88AACC"/>
                </a:solidFill>
              </a:rPr>
              <a:t>image: nginx:1.25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000" y="2376000"/>
            <a:ext cx="4908600" cy="180000"/>
          </a:xfrm>
          <a:prstGeom prst="rect">
            <a:avLst/>
          </a:prstGeom>
          <a:solidFill>
            <a:srgbClr val="3A1A1A"/>
          </a:solidFill>
          <a:ln w="9525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E54B4B"/>
                </a:solidFill>
              </a:rPr>
              <a:t>독립된 Mount Namespace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4000" y="2592000"/>
            <a:ext cx="4800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CCAA"/>
                </a:solidFill>
              </a:rPr>
              <a:t>/ → nginx 이미지 레이어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000" y="2790000"/>
            <a:ext cx="4800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CCAA"/>
                </a:solidFill>
              </a:rPr>
              <a:t>/usr/share/nginx/html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4000" y="2988000"/>
            <a:ext cx="4800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CCAA"/>
                </a:solidFill>
              </a:rPr>
              <a:t>/var/log/nginx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4600" y="1764000"/>
            <a:ext cx="5088600" cy="2340000"/>
          </a:xfrm>
          <a:prstGeom prst="roundRect">
            <a:avLst>
              <a:gd name="adj" fmla="val 4000"/>
            </a:avLst>
          </a:prstGeom>
          <a:solidFill>
            <a:srgbClr val="142238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94600" y="1836000"/>
            <a:ext cx="4908600" cy="234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Container B  (sidecar)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2600" y="2124000"/>
            <a:ext cx="48726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88AACC"/>
                </a:solidFill>
              </a:rPr>
              <a:t>image: busybox:1.36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4600" y="2376000"/>
            <a:ext cx="4908600" cy="180000"/>
          </a:xfrm>
          <a:prstGeom prst="rect">
            <a:avLst/>
          </a:prstGeom>
          <a:solidFill>
            <a:srgbClr val="3A1A1A"/>
          </a:solidFill>
          <a:ln w="9525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>
                <a:solidFill>
                  <a:srgbClr val="E54B4B"/>
                </a:solidFill>
              </a:rPr>
              <a:t>독립된 Mount Namespace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8600" y="2592000"/>
            <a:ext cx="4800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CCAA"/>
                </a:solidFill>
              </a:rPr>
              <a:t>/ → busybox 이미지 레이어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8600" y="2790000"/>
            <a:ext cx="4800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CCAA"/>
                </a:solidFill>
              </a:rPr>
              <a:t>/bin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8600" y="2988000"/>
            <a:ext cx="4800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CCAA"/>
                </a:solidFill>
              </a:rPr>
              <a:t>/tmp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2200" y="2466000"/>
            <a:ext cx="28800" cy="936000"/>
          </a:xfrm>
          <a:prstGeom prst="rect">
            <a:avLst/>
          </a:prstGeom>
          <a:solidFill>
            <a:srgbClr val="E5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16600" y="2790000"/>
            <a:ext cx="3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54B4B"/>
                </a:solidFill>
              </a:rPr>
              <a:t>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000" y="4284000"/>
            <a:ext cx="10393200" cy="720000"/>
          </a:xfrm>
          <a:prstGeom prst="roundRect">
            <a:avLst>
              <a:gd name="adj" fmla="val 4000"/>
            </a:avLst>
          </a:prstGeom>
          <a:solidFill>
            <a:srgbClr val="1C2F45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/>
          <a:lstStyle/>
          <a:p>
            <a:pPr algn="l"/>
            <a:r>
              <a:rPr sz="1200" b="1">
                <a:solidFill>
                  <a:srgbClr val="F39C12"/>
                </a:solidFill>
              </a:rPr>
              <a:t>컨테이너 파일시스템은 기본적으로 격리  —  Mount Namespace가 컨테이너별로 독립</a:t>
            </a:r>
          </a:p>
          <a:p>
            <a:pPr algn="l"/>
            <a:r>
              <a:rPr sz="1200" b="0">
                <a:solidFill>
                  <a:srgbClr val="CCBB88"/>
                </a:solidFill>
              </a:rPr>
              <a:t>공유하려면 동일 경로를 양쪽 컨테이너에서 명시적으로 마운트해야 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3200" y="6462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446688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400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51999"/>
            <a:ext cx="111132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컨테이너 파일시스템의 생명주기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864000"/>
            <a:ext cx="5376600" cy="3780000"/>
          </a:xfrm>
          <a:prstGeom prst="roundRect">
            <a:avLst>
              <a:gd name="adj" fmla="val 4000"/>
            </a:avLst>
          </a:prstGeom>
          <a:solidFill>
            <a:srgbClr val="122235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864000"/>
            <a:ext cx="5376600" cy="360000"/>
          </a:xfrm>
          <a:prstGeom prst="rect">
            <a:avLst/>
          </a:prstGeom>
          <a:solidFill>
            <a:srgbClr val="1A5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2ECC71"/>
                </a:solidFill>
              </a:rPr>
              <a:t>컨테이너 재시작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1332000"/>
            <a:ext cx="50166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CCAA"/>
                </a:solidFill>
              </a:rPr>
              <a:t>파드는 살아있다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1638000"/>
            <a:ext cx="50166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CCAA"/>
                </a:solidFill>
              </a:rPr>
              <a:t>컨테이너만 크래시 → 재시작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1944000"/>
            <a:ext cx="50166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AACCAA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2249999"/>
            <a:ext cx="50166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✓  컨테이너 파일시스템 유지됨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000" y="2664000"/>
            <a:ext cx="5016600" cy="16200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 w="1524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00" y="2718000"/>
            <a:ext cx="53766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26CE5"/>
                </a:solidFill>
              </a:rPr>
              <a:t>Pod  (생존)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000" y="2970000"/>
            <a:ext cx="4800600" cy="251999"/>
          </a:xfrm>
          <a:prstGeom prst="rect">
            <a:avLst/>
          </a:prstGeom>
          <a:solidFill>
            <a:srgbClr val="1C3A28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000" y="3006000"/>
            <a:ext cx="46566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2ECC71"/>
                </a:solidFill>
              </a:rPr>
              <a:t>컨테이너 파일시스템  (유지)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000" y="3312000"/>
            <a:ext cx="1080000" cy="234000"/>
          </a:xfrm>
          <a:prstGeom prst="rect">
            <a:avLst/>
          </a:prstGeom>
          <a:solidFill>
            <a:srgbClr val="142238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000" y="3340800"/>
            <a:ext cx="1368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8BBFF"/>
                </a:solidFill>
              </a:rPr>
              <a:t>Container  ↺ 재시작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6600" y="864000"/>
            <a:ext cx="5376600" cy="3780000"/>
          </a:xfrm>
          <a:prstGeom prst="roundRect">
            <a:avLst>
              <a:gd name="adj" fmla="val 4000"/>
            </a:avLst>
          </a:prstGeom>
          <a:solidFill>
            <a:srgbClr val="122235"/>
          </a:solidFill>
          <a:ln w="190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6600" y="864000"/>
            <a:ext cx="5376600" cy="360000"/>
          </a:xfrm>
          <a:prstGeom prst="rect">
            <a:avLst/>
          </a:prstGeom>
          <a:solidFill>
            <a:srgbClr val="3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E54B4B"/>
                </a:solidFill>
              </a:rPr>
              <a:t>파드 삭제 / 교체 / 노드 장애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6600" y="1332000"/>
            <a:ext cx="50166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CAAAA"/>
                </a:solidFill>
              </a:rPr>
              <a:t>파드 자체가 사라진다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6600" y="1638000"/>
            <a:ext cx="50166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CAAAA"/>
                </a:solidFill>
              </a:rPr>
              <a:t>새 파드는 완전히 별개의 존재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6600" y="1944000"/>
            <a:ext cx="50166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CAAAA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6600" y="2249999"/>
            <a:ext cx="50166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E54B4B"/>
                </a:solidFill>
              </a:rPr>
              <a:t>✗  컨테이너 파일시스템 소멸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56600" y="2664000"/>
            <a:ext cx="5016600" cy="827999"/>
          </a:xfrm>
          <a:prstGeom prst="roundRect">
            <a:avLst>
              <a:gd name="adj" fmla="val 4000"/>
            </a:avLst>
          </a:prstGeom>
          <a:solidFill>
            <a:srgbClr val="2A0E0E"/>
          </a:solidFill>
          <a:ln w="1524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4600" y="2718000"/>
            <a:ext cx="53766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4B4B"/>
                </a:solidFill>
              </a:rPr>
              <a:t>Pod  (삭제됨)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64600" y="2970000"/>
            <a:ext cx="4800600" cy="251999"/>
          </a:xfrm>
          <a:prstGeom prst="rect">
            <a:avLst/>
          </a:prstGeom>
          <a:solidFill>
            <a:srgbClr val="3A1414"/>
          </a:solidFill>
          <a:ln w="127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6600" y="3006000"/>
            <a:ext cx="46566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E54B4B"/>
                </a:solidFill>
              </a:rPr>
              <a:t>컨테이너 파일시스템  ← 소멸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4600" y="3600000"/>
            <a:ext cx="5016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B8888"/>
                </a:solidFill>
              </a:rPr>
              <a:t>→  새 파드는 빈 상태로 시작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0000" y="4824000"/>
            <a:ext cx="11113200" cy="1260000"/>
          </a:xfrm>
          <a:prstGeom prst="roundRect">
            <a:avLst>
              <a:gd name="adj" fmla="val 4000"/>
            </a:avLst>
          </a:prstGeom>
          <a:solidFill>
            <a:srgbClr val="0A1F3A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08000"/>
          <a:lstStyle/>
          <a:p>
            <a:pPr algn="l"/>
            <a:r>
              <a:rPr sz="1500" b="1">
                <a:solidFill>
                  <a:srgbClr val="FFFFFF"/>
                </a:solidFill>
              </a:rPr>
              <a:t>그래서 Kubernetes는 Volume이라는 개념을 도입했다</a:t>
            </a:r>
          </a:p>
          <a:p>
            <a:pPr algn="l"/>
            <a:r>
              <a:rPr sz="13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A0C0E0"/>
                </a:solidFill>
              </a:rPr>
              <a:t>컨테이너 재시작 간 데이터를 보존하고, 동일 파드 내 컨테이너 간 파일을 공유하기 위해</a:t>
            </a:r>
          </a:p>
          <a:p>
            <a:pPr algn="l"/>
            <a:r>
              <a:rPr sz="1300" b="0">
                <a:solidFill>
                  <a:srgbClr val="88A8C8"/>
                </a:solidFill>
              </a:rPr>
              <a:t>단, 볼륨의 생명주기는 파드에 귀속 — 진정한 영속성은 PersistentVolume으로 해결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3200" y="6462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446688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400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34000"/>
            <a:ext cx="111132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컨테이너 파일시스템  vs  공유 볼륨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3200" y="259200"/>
            <a:ext cx="324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446688"/>
                </a:solidFill>
              </a:rPr>
              <a:t>ref: Kubernetes in Action  Ch.6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684000"/>
            <a:ext cx="5376600" cy="27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684000"/>
            <a:ext cx="53766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A0C4FF"/>
                </a:solidFill>
              </a:rPr>
              <a:t>컨테이너별 독립 파일시스템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1008000"/>
            <a:ext cx="5376600" cy="5454000"/>
          </a:xfrm>
          <a:prstGeom prst="roundRect">
            <a:avLst>
              <a:gd name="adj" fmla="val 4000"/>
            </a:avLst>
          </a:prstGeom>
          <a:solidFill>
            <a:srgbClr val="0E1F35"/>
          </a:solidFill>
          <a:ln w="1524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1080000"/>
            <a:ext cx="7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26CE5"/>
                </a:solidFill>
              </a:rPr>
              <a:t>Pod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1999" y="1368000"/>
            <a:ext cx="2292300" cy="648000"/>
          </a:xfrm>
          <a:prstGeom prst="rect">
            <a:avLst/>
          </a:prstGeom>
          <a:solidFill>
            <a:srgbClr val="142238"/>
          </a:solidFill>
          <a:ln w="1524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1999" y="1422000"/>
            <a:ext cx="2292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88BBFF"/>
                </a:solidFill>
              </a:rPr>
              <a:t>Container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99" y="1619999"/>
            <a:ext cx="2292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699CC"/>
                </a:solidFill>
              </a:rPr>
              <a:t>nginx:1.25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2299" y="1368000"/>
            <a:ext cx="2292300" cy="648000"/>
          </a:xfrm>
          <a:prstGeom prst="rect">
            <a:avLst/>
          </a:prstGeom>
          <a:solidFill>
            <a:srgbClr val="142238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2299" y="1422000"/>
            <a:ext cx="2292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CAAFF"/>
                </a:solidFill>
              </a:rPr>
              <a:t>Container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2299" y="1619999"/>
            <a:ext cx="2292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AA77DD"/>
                </a:solidFill>
              </a:rPr>
              <a:t>busybox:1.36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1999" y="2160000"/>
            <a:ext cx="2292300" cy="468000"/>
          </a:xfrm>
          <a:prstGeom prst="rect">
            <a:avLst/>
          </a:prstGeom>
          <a:solidFill>
            <a:srgbClr val="1A2A1A"/>
          </a:solidFill>
          <a:ln w="10160">
            <a:solidFill>
              <a:srgbClr val="44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1999" y="2196000"/>
            <a:ext cx="2292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88CC88"/>
                </a:solidFill>
              </a:rPr>
              <a:t>이미지 파일시스템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999" y="2376000"/>
            <a:ext cx="2292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6AA66"/>
                </a:solidFill>
              </a:rPr>
              <a:t>/usr /bin /etc 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72299" y="2160000"/>
            <a:ext cx="2292300" cy="468000"/>
          </a:xfrm>
          <a:prstGeom prst="rect">
            <a:avLst/>
          </a:prstGeom>
          <a:solidFill>
            <a:srgbClr val="1A2A1A"/>
          </a:solidFill>
          <a:ln w="10160">
            <a:solidFill>
              <a:srgbClr val="44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2299" y="2196000"/>
            <a:ext cx="2292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88CC88"/>
                </a:solidFill>
              </a:rPr>
              <a:t>이미지 파일시스템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2299" y="2376000"/>
            <a:ext cx="2292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66AA66"/>
                </a:solidFill>
              </a:rPr>
              <a:t>/bin /tmp 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3749" y="2016000"/>
            <a:ext cx="28800" cy="144000"/>
          </a:xfrm>
          <a:prstGeom prst="rect">
            <a:avLst/>
          </a:prstGeom>
          <a:solidFill>
            <a:srgbClr val="55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04049" y="2016000"/>
            <a:ext cx="28800" cy="144000"/>
          </a:xfrm>
          <a:prstGeom prst="rect">
            <a:avLst/>
          </a:prstGeom>
          <a:solidFill>
            <a:srgbClr val="55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13900" y="1497600"/>
            <a:ext cx="28800" cy="388800"/>
          </a:xfrm>
          <a:prstGeom prst="rect">
            <a:avLst/>
          </a:prstGeom>
          <a:solidFill>
            <a:srgbClr val="E5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84300" y="1627200"/>
            <a:ext cx="2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54B4B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2772000"/>
            <a:ext cx="53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8C8"/>
                </a:solidFill>
              </a:rPr>
              <a:t>파일시스템은 컨테이너 이미지에서 비롯 — 서로 접근 불가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6600" y="684000"/>
            <a:ext cx="5376600" cy="270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76600" y="684000"/>
            <a:ext cx="5376600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A0C4FF"/>
                </a:solidFill>
              </a:rPr>
              <a:t>공유 볼륨 (emptyDir)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76600" y="1008000"/>
            <a:ext cx="5376600" cy="5454000"/>
          </a:xfrm>
          <a:prstGeom prst="roundRect">
            <a:avLst>
              <a:gd name="adj" fmla="val 3000"/>
            </a:avLst>
          </a:prstGeom>
          <a:solidFill>
            <a:srgbClr val="081422"/>
          </a:solidFill>
          <a:ln w="1270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4600" y="1080000"/>
            <a:ext cx="7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57799"/>
                </a:solidFill>
              </a:rPr>
              <a:t>Node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28599" y="1314000"/>
            <a:ext cx="4872602" cy="4950001"/>
          </a:xfrm>
          <a:prstGeom prst="roundRect">
            <a:avLst>
              <a:gd name="adj" fmla="val 4000"/>
            </a:avLst>
          </a:prstGeom>
          <a:solidFill>
            <a:srgbClr val="0E1F35"/>
          </a:solidFill>
          <a:ln w="1524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6599" y="1368000"/>
            <a:ext cx="7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26CE5"/>
                </a:solidFill>
              </a:rPr>
              <a:t>Pod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80598" y="1674000"/>
            <a:ext cx="2040301" cy="648000"/>
          </a:xfrm>
          <a:prstGeom prst="rect">
            <a:avLst/>
          </a:prstGeom>
          <a:solidFill>
            <a:srgbClr val="142238"/>
          </a:solidFill>
          <a:ln w="1524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0598" y="1728000"/>
            <a:ext cx="20403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88BBFF"/>
                </a:solidFill>
              </a:rPr>
              <a:t>Container 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0598" y="1925999"/>
            <a:ext cx="20403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ECC71"/>
                </a:solidFill>
              </a:rPr>
              <a:t>/data 마운트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08899" y="1674000"/>
            <a:ext cx="2040301" cy="648000"/>
          </a:xfrm>
          <a:prstGeom prst="rect">
            <a:avLst/>
          </a:prstGeom>
          <a:solidFill>
            <a:srgbClr val="142238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8899" y="1728000"/>
            <a:ext cx="20403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CCAAFF"/>
                </a:solidFill>
              </a:rPr>
              <a:t>Container 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8899" y="1925999"/>
            <a:ext cx="2040301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2ECC71"/>
                </a:solidFill>
              </a:rPr>
              <a:t>/data 마운트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80598" y="2646000"/>
            <a:ext cx="4368603" cy="503999"/>
          </a:xfrm>
          <a:prstGeom prst="rect">
            <a:avLst/>
          </a:prstGeom>
          <a:solidFill>
            <a:srgbClr val="0A2E1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80598" y="2682000"/>
            <a:ext cx="4368603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CC71"/>
                </a:solidFill>
              </a:rPr>
              <a:t>Volume  (emptyDir)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0598" y="2897999"/>
            <a:ext cx="4368603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55AA77"/>
                </a:solidFill>
              </a:rPr>
              <a:t>Node 로컬 디스크에 생성된 임시 디렉토리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86348" y="2322000"/>
            <a:ext cx="28800" cy="324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735948" y="2556000"/>
            <a:ext cx="129600" cy="1008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14649" y="2322000"/>
            <a:ext cx="28800" cy="324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064249" y="2556000"/>
            <a:ext cx="129600" cy="1008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6600" y="3275998"/>
            <a:ext cx="53766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8A8C8"/>
                </a:solidFill>
              </a:rPr>
              <a:t>두 컨테이너가 동일 Volume을 각자의 mountPath로 마운트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2200" y="1404000"/>
            <a:ext cx="28800" cy="43380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08600" y="3393000"/>
            <a:ext cx="576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557799"/>
                </a:solidFill>
              </a:rPr>
              <a:t>vs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93200" y="6462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446688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400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34000"/>
            <a:ext cx="111132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emptyDir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48000"/>
            <a:ext cx="1111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AACC"/>
                </a:solidFill>
              </a:rPr>
              <a:t>파드가 노드에 배정될 때 생성되는 빈 디렉토리 — 파드가 사라지면 함께 삭제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007999"/>
            <a:ext cx="5121144" cy="2088000"/>
          </a:xfrm>
          <a:prstGeom prst="roundRect">
            <a:avLst>
              <a:gd name="adj" fmla="val 4000"/>
            </a:avLst>
          </a:prstGeom>
          <a:solidFill>
            <a:srgbClr val="0E1F35"/>
          </a:solidFill>
          <a:ln w="1524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300" b="1">
                <a:solidFill>
                  <a:srgbClr val="88BBFF"/>
                </a:solidFill>
              </a:rPr>
              <a:t>특성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파드 스케줄링 시 노드 로컬 디스크에 생성</a:t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처음에는 완전히 비어있음</a:t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같은 파드의 컨테이너끼리 공유 가능</a:t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컨테이너 재시작 시 데이터 유지</a:t>
            </a:r>
          </a:p>
          <a:p>
            <a:pPr algn="l"/>
            <a:r>
              <a:rPr sz="1200" b="1">
                <a:solidFill>
                  <a:srgbClr val="F39C12"/>
                </a:solidFill>
              </a:rPr>
              <a:t>• 파드 삭제 시 데이터 영구 소멸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240000"/>
            <a:ext cx="5121144" cy="1980000"/>
          </a:xfrm>
          <a:prstGeom prst="roundRect">
            <a:avLst>
              <a:gd name="adj" fmla="val 4000"/>
            </a:avLst>
          </a:prstGeom>
          <a:solidFill>
            <a:srgbClr val="0E1F35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300" b="1">
                <a:solidFill>
                  <a:srgbClr val="2ECC71"/>
                </a:solidFill>
              </a:rPr>
              <a:t>주요 사용 사례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대용량 정렬 등 임시 스크래치 공간</a:t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사이드카 패턴 — 컨테이너 간 파일 전달</a:t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크래시 복구용 체크포인트 저장</a:t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웹 서버 ↔ 콘텐츠 생성기 파일 공유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5328000"/>
            <a:ext cx="5121144" cy="900000"/>
          </a:xfrm>
          <a:prstGeom prst="roundRect">
            <a:avLst>
              <a:gd name="adj" fmla="val 4000"/>
            </a:avLst>
          </a:prstGeom>
          <a:solidFill>
            <a:srgbClr val="1A1A35"/>
          </a:solidFill>
          <a:ln w="1524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200" b="1">
                <a:solidFill>
                  <a:srgbClr val="CCAAFF"/>
                </a:solidFill>
              </a:rPr>
              <a:t>medium: Memory  →  tmpfs (RAM 사용)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BBAADD"/>
                </a:solidFill>
              </a:rPr>
              <a:t>디스크 대신 메모리에 저장 — 더 빠르지만</a:t>
            </a:r>
          </a:p>
          <a:p>
            <a:pPr algn="l"/>
            <a:r>
              <a:rPr sz="1100" b="0">
                <a:solidFill>
                  <a:srgbClr val="BBAADD"/>
                </a:solidFill>
              </a:rPr>
              <a:t>컨테이너 메모리 limit에 포함됨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30804" y="954000"/>
            <a:ext cx="5922396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8BBFF"/>
                </a:solidFill>
              </a:rPr>
              <a:t>YAML 예시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30804" y="1224000"/>
            <a:ext cx="5922396" cy="5040000"/>
          </a:xfrm>
          <a:prstGeom prst="rect">
            <a:avLst/>
          </a:prstGeom>
          <a:solidFill>
            <a:srgbClr val="08121E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4804" y="1332000"/>
            <a:ext cx="5634396" cy="48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79C0FF"/>
                </a:solidFill>
                <a:latin typeface="Courier New"/>
              </a:rPr>
              <a:t>apiVersion: v1</a:t>
            </a:r>
          </a:p>
          <a:p>
            <a:r>
              <a:rPr sz="1050" b="0">
                <a:solidFill>
                  <a:srgbClr val="79C0FF"/>
                </a:solidFill>
                <a:latin typeface="Courier New"/>
              </a:rPr>
              <a:t>kind: Pod</a:t>
            </a:r>
          </a:p>
          <a:p>
            <a:r>
              <a:rPr sz="1050" b="0">
                <a:solidFill>
                  <a:srgbClr val="79C0FF"/>
                </a:solidFill>
                <a:latin typeface="Courier New"/>
              </a:rPr>
              <a:t>metadata:</a:t>
            </a:r>
          </a:p>
          <a:p>
            <a:r>
              <a:rPr sz="1050" b="0">
                <a:solidFill>
                  <a:srgbClr val="A8FFA8"/>
                </a:solidFill>
                <a:latin typeface="Courier New"/>
              </a:rPr>
              <a:t>  name: shared-pod</a:t>
            </a:r>
          </a:p>
          <a:p>
            <a:r>
              <a:rPr sz="1050" b="0">
                <a:solidFill>
                  <a:srgbClr val="79C0FF"/>
                </a:solidFill>
                <a:latin typeface="Courier New"/>
              </a:rPr>
              <a:t>spec:</a:t>
            </a:r>
          </a:p>
          <a:p>
            <a:r>
              <a:rPr sz="1050" b="0">
                <a:solidFill>
                  <a:srgbClr val="79C0FF"/>
                </a:solidFill>
                <a:latin typeface="Courier New"/>
              </a:rPr>
              <a:t>  containers:</a:t>
            </a:r>
          </a:p>
          <a:p>
            <a:r>
              <a:rPr sz="1050" b="0">
                <a:solidFill>
                  <a:srgbClr val="A8FFA8"/>
                </a:solidFill>
                <a:latin typeface="Courier New"/>
              </a:rPr>
              <a:t>  - name: html-generator</a:t>
            </a:r>
          </a:p>
          <a:p>
            <a:r>
              <a:rPr sz="1050" b="0">
                <a:solidFill>
                  <a:srgbClr val="F0A050"/>
                </a:solidFill>
                <a:latin typeface="Courier New"/>
              </a:rPr>
              <a:t>    image: nginx:1.25</a:t>
            </a:r>
          </a:p>
          <a:p>
            <a:r>
              <a:rPr sz="1050" b="0">
                <a:solidFill>
                  <a:srgbClr val="79C0FF"/>
                </a:solidFill>
                <a:latin typeface="Courier New"/>
              </a:rPr>
              <a:t>    volumeMounts:</a:t>
            </a:r>
          </a:p>
          <a:p>
            <a:r>
              <a:rPr sz="1050" b="0">
                <a:solidFill>
                  <a:srgbClr val="A8FFA8"/>
                </a:solidFill>
                <a:latin typeface="Courier New"/>
              </a:rPr>
              <a:t>    - name: html</a:t>
            </a:r>
          </a:p>
          <a:p>
            <a:r>
              <a:rPr sz="1050" b="0">
                <a:solidFill>
                  <a:srgbClr val="F0A050"/>
                </a:solidFill>
                <a:latin typeface="Courier New"/>
              </a:rPr>
              <a:t>      mountPath: /usr/share/nginx/html</a:t>
            </a:r>
          </a:p>
          <a:p>
            <a:r>
              <a:rPr sz="1050" b="0">
                <a:solidFill>
                  <a:srgbClr val="DDDDDD"/>
                </a:solidFill>
                <a:latin typeface="Courier New"/>
              </a:rPr>
              <a:t/>
            </a:r>
          </a:p>
          <a:p>
            <a:r>
              <a:rPr sz="1050" b="0">
                <a:solidFill>
                  <a:srgbClr val="A8FFA8"/>
                </a:solidFill>
                <a:latin typeface="Courier New"/>
              </a:rPr>
              <a:t>  - name: content-writer</a:t>
            </a:r>
          </a:p>
          <a:p>
            <a:r>
              <a:rPr sz="1050" b="0">
                <a:solidFill>
                  <a:srgbClr val="F0A050"/>
                </a:solidFill>
                <a:latin typeface="Courier New"/>
              </a:rPr>
              <a:t>    image: busybox:1.36</a:t>
            </a:r>
          </a:p>
          <a:p>
            <a:r>
              <a:rPr sz="1050" b="0">
                <a:solidFill>
                  <a:srgbClr val="79C0FF"/>
                </a:solidFill>
                <a:latin typeface="Courier New"/>
              </a:rPr>
              <a:t>    volumeMounts:</a:t>
            </a:r>
          </a:p>
          <a:p>
            <a:r>
              <a:rPr sz="1050" b="0">
                <a:solidFill>
                  <a:srgbClr val="A8FFA8"/>
                </a:solidFill>
                <a:latin typeface="Courier New"/>
              </a:rPr>
              <a:t>    - name: html</a:t>
            </a:r>
          </a:p>
          <a:p>
            <a:r>
              <a:rPr sz="1050" b="0">
                <a:solidFill>
                  <a:srgbClr val="F0A050"/>
                </a:solidFill>
                <a:latin typeface="Courier New"/>
              </a:rPr>
              <a:t>      mountPath: /data</a:t>
            </a:r>
          </a:p>
          <a:p>
            <a:r>
              <a:rPr sz="1050" b="0">
                <a:solidFill>
                  <a:srgbClr val="DDDDDD"/>
                </a:solidFill>
                <a:latin typeface="Courier New"/>
              </a:rPr>
              <a:t/>
            </a:r>
          </a:p>
          <a:p>
            <a:r>
              <a:rPr sz="1050" b="0">
                <a:solidFill>
                  <a:srgbClr val="79C0FF"/>
                </a:solidFill>
                <a:latin typeface="Courier New"/>
              </a:rPr>
              <a:t>  volumes:</a:t>
            </a:r>
          </a:p>
          <a:p>
            <a:r>
              <a:rPr sz="1050" b="0">
                <a:solidFill>
                  <a:srgbClr val="A8FFA8"/>
                </a:solidFill>
                <a:latin typeface="Courier New"/>
              </a:rPr>
              <a:t>  - name: html</a:t>
            </a:r>
          </a:p>
          <a:p>
            <a:r>
              <a:rPr sz="1050" b="0">
                <a:solidFill>
                  <a:srgbClr val="F0A050"/>
                </a:solidFill>
                <a:latin typeface="Courier New"/>
              </a:rPr>
              <a:t>    emptyDir: {}</a:t>
            </a:r>
          </a:p>
          <a:p>
            <a:r>
              <a:rPr sz="1050" b="0">
                <a:solidFill>
                  <a:srgbClr val="557755"/>
                </a:solidFill>
                <a:latin typeface="Courier New"/>
              </a:rPr>
              <a:t>  # medium: Memory  # RAM 사용 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0804" y="6336000"/>
            <a:ext cx="5922396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39C12"/>
                </a:solidFill>
              </a:rPr>
              <a:t>▲  두 컨테이너가 동일한 name: html 로 같은 볼륨을 참조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3200" y="6462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446688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400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34000"/>
            <a:ext cx="67932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gitRepo</a:t>
            </a:r>
          </a:p>
        </p:txBody>
      </p:sp>
      <p:sp>
        <p:nvSpPr>
          <p:cNvPr id="5" name="Rectangle 4"/>
          <p:cNvSpPr/>
          <p:nvPr/>
        </p:nvSpPr>
        <p:spPr>
          <a:xfrm>
            <a:off x="3780000" y="259200"/>
            <a:ext cx="1980000" cy="306000"/>
          </a:xfrm>
          <a:prstGeom prst="rect">
            <a:avLst/>
          </a:prstGeom>
          <a:solidFill>
            <a:srgbClr val="5A1A1A"/>
          </a:solidFill>
          <a:ln w="1524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06060"/>
                </a:solidFill>
              </a:rPr>
              <a:t>⚠  Deprecated (k8s 1.11+)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648000"/>
            <a:ext cx="1111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AACC"/>
                </a:solidFill>
              </a:rPr>
              <a:t>파드 시작 시 Git 저장소를 클론해 emptyDir에 채워주는 볼륨 타입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7554" y="1007999"/>
            <a:ext cx="1946034" cy="360000"/>
          </a:xfrm>
          <a:prstGeom prst="roundRect">
            <a:avLst>
              <a:gd name="adj" fmla="val 10000"/>
            </a:avLst>
          </a:prstGeom>
          <a:solidFill>
            <a:srgbClr val="1A2A1A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27554" y="1079999"/>
            <a:ext cx="194603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CC71"/>
                </a:solidFill>
              </a:rPr>
              <a:t>Git Remote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6172" y="1367999"/>
            <a:ext cx="28800" cy="39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7554" y="1421999"/>
            <a:ext cx="5121144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55AA77"/>
                </a:solidFill>
              </a:rPr>
              <a:t>git clone  (파드 시작 시 1회)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2257" y="1763999"/>
            <a:ext cx="2816629" cy="360000"/>
          </a:xfrm>
          <a:prstGeom prst="rect">
            <a:avLst/>
          </a:prstGeom>
          <a:solidFill>
            <a:srgbClr val="0A2E1E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2257" y="1835999"/>
            <a:ext cx="281662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2ECC71"/>
                </a:solidFill>
              </a:rPr>
              <a:t>emptyDir  (repo 파일로 채워짐)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86172" y="2123999"/>
            <a:ext cx="28800" cy="32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572" y="2159999"/>
            <a:ext cx="10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5588CC"/>
                </a:solidFill>
              </a:rPr>
              <a:t>mount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48314" y="2447999"/>
            <a:ext cx="2304514" cy="360000"/>
          </a:xfrm>
          <a:prstGeom prst="rect">
            <a:avLst/>
          </a:prstGeom>
          <a:solidFill>
            <a:srgbClr val="142238"/>
          </a:solidFill>
          <a:ln w="1524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48314" y="2519999"/>
            <a:ext cx="2304514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8BBFF"/>
                </a:solidFill>
              </a:rPr>
              <a:t>Container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2915999"/>
            <a:ext cx="5121144" cy="1872000"/>
          </a:xfrm>
          <a:prstGeom prst="roundRect">
            <a:avLst>
              <a:gd name="adj" fmla="val 4000"/>
            </a:avLst>
          </a:prstGeom>
          <a:solidFill>
            <a:srgbClr val="0E1F35"/>
          </a:solidFill>
          <a:ln w="1524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300" b="1">
                <a:solidFill>
                  <a:srgbClr val="88BBFF"/>
                </a:solidFill>
              </a:rPr>
              <a:t>특성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repository  —  클론할 Git 저장소 URL</a:t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revision  —  커밋/브랜치/태그 (기본: HEAD)</a:t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directory  —  클론 대상 하위 경로 (선택)</a:t>
            </a:r>
          </a:p>
          <a:p>
            <a:pPr algn="l"/>
            <a:r>
              <a:rPr sz="1200" b="1">
                <a:solidFill>
                  <a:srgbClr val="F39C12"/>
                </a:solidFill>
              </a:rPr>
              <a:t>• 클론 이후 자동 동기화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4895999"/>
            <a:ext cx="5121144" cy="1260000"/>
          </a:xfrm>
          <a:prstGeom prst="roundRect">
            <a:avLst>
              <a:gd name="adj" fmla="val 4000"/>
            </a:avLst>
          </a:prstGeom>
          <a:solidFill>
            <a:srgbClr val="2A0E0E"/>
          </a:solidFill>
          <a:ln w="1524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300" b="1">
                <a:solidFill>
                  <a:srgbClr val="F07070"/>
                </a:solidFill>
              </a:rPr>
              <a:t>Deprecated 이유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CCAAAA"/>
                </a:solidFill>
              </a:rPr>
              <a:t>• 보안 — SSH 키/토큰을 Pod Spec에 노출</a:t>
            </a:r>
          </a:p>
          <a:p>
            <a:pPr algn="l"/>
            <a:r>
              <a:rPr sz="1200" b="0">
                <a:solidFill>
                  <a:srgbClr val="CCAAAA"/>
                </a:solidFill>
              </a:rPr>
              <a:t>• 기능 한계 — 클론 후 repo 변경 반영 불가</a:t>
            </a:r>
          </a:p>
          <a:p>
            <a:pPr algn="l"/>
            <a:r>
              <a:rPr sz="1200" b="1">
                <a:solidFill>
                  <a:srgbClr val="FFAAAA"/>
                </a:solidFill>
              </a:rPr>
              <a:t>• 대안: initContainer 또는 git-sync 사이드카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0804" y="954000"/>
            <a:ext cx="5922396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07070"/>
                </a:solidFill>
              </a:rPr>
              <a:t>gitRepo 사용 예시  (deprecated)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30804" y="1224000"/>
            <a:ext cx="5922396" cy="2232000"/>
          </a:xfrm>
          <a:prstGeom prst="rect">
            <a:avLst/>
          </a:prstGeom>
          <a:solidFill>
            <a:srgbClr val="08121E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4804" y="1332000"/>
            <a:ext cx="5634396" cy="205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9C0FF"/>
                </a:solidFill>
                <a:latin typeface="Courier New"/>
              </a:rPr>
              <a:t>volumes:</a:t>
            </a:r>
          </a:p>
          <a:p>
            <a:r>
              <a:rPr sz="1050">
                <a:solidFill>
                  <a:srgbClr val="A8FFA8"/>
                </a:solidFill>
                <a:latin typeface="Courier New"/>
              </a:rPr>
              <a:t>- name: source</a:t>
            </a:r>
          </a:p>
          <a:p>
            <a:r>
              <a:rPr sz="1050">
                <a:solidFill>
                  <a:srgbClr val="F07070"/>
                </a:solidFill>
                <a:latin typeface="Courier New"/>
              </a:rPr>
              <a:t>  gitRepo:</a:t>
            </a:r>
          </a:p>
          <a:p>
            <a:r>
              <a:rPr sz="1050">
                <a:solidFill>
                  <a:srgbClr val="F0A050"/>
                </a:solidFill>
                <a:latin typeface="Courier New"/>
              </a:rPr>
              <a:t>    repository: https://github.com/foo/bar</a:t>
            </a:r>
          </a:p>
          <a:p>
            <a:r>
              <a:rPr sz="1050">
                <a:solidFill>
                  <a:srgbClr val="F0A050"/>
                </a:solidFill>
                <a:latin typeface="Courier New"/>
              </a:rPr>
              <a:t>    revision: main</a:t>
            </a:r>
          </a:p>
          <a:p>
            <a:r>
              <a:rPr sz="1050">
                <a:solidFill>
                  <a:srgbClr val="F0A050"/>
                </a:solidFill>
                <a:latin typeface="Courier New"/>
              </a:rPr>
              <a:t>    directory: 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0804" y="3546000"/>
            <a:ext cx="5922396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ECC71"/>
                </a:solidFill>
              </a:rPr>
              <a:t>권장 대안 — git-sync 사이드카 패턴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30804" y="3798000"/>
            <a:ext cx="5922396" cy="2520000"/>
          </a:xfrm>
          <a:prstGeom prst="rect">
            <a:avLst/>
          </a:prstGeom>
          <a:solidFill>
            <a:srgbClr val="08121E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4804" y="3906000"/>
            <a:ext cx="5634396" cy="2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9C0FF"/>
                </a:solidFill>
                <a:latin typeface="Courier New"/>
              </a:rPr>
              <a:t>volumes:</a:t>
            </a:r>
          </a:p>
          <a:p>
            <a:r>
              <a:rPr sz="1050">
                <a:solidFill>
                  <a:srgbClr val="A8FFA8"/>
                </a:solidFill>
                <a:latin typeface="Courier New"/>
              </a:rPr>
              <a:t>- name: source</a:t>
            </a:r>
          </a:p>
          <a:p>
            <a:r>
              <a:rPr sz="1050">
                <a:solidFill>
                  <a:srgbClr val="F0A050"/>
                </a:solidFill>
                <a:latin typeface="Courier New"/>
              </a:rPr>
              <a:t>  emptyDir: {}</a:t>
            </a:r>
          </a:p>
          <a:p>
            <a:r>
              <a:rPr sz="1050">
                <a:solidFill>
                  <a:srgbClr val="DDDDDD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79C0FF"/>
                </a:solidFill>
                <a:latin typeface="Courier New"/>
              </a:rPr>
              <a:t>containers:</a:t>
            </a:r>
          </a:p>
          <a:p>
            <a:r>
              <a:rPr sz="1050">
                <a:solidFill>
                  <a:srgbClr val="A8FFA8"/>
                </a:solidFill>
                <a:latin typeface="Courier New"/>
              </a:rPr>
              <a:t>- name: app</a:t>
            </a:r>
          </a:p>
          <a:p>
            <a:r>
              <a:rPr sz="1050">
                <a:solidFill>
                  <a:srgbClr val="79C0FF"/>
                </a:solidFill>
                <a:latin typeface="Courier New"/>
              </a:rPr>
              <a:t>  volumeMounts:</a:t>
            </a:r>
          </a:p>
          <a:p>
            <a:r>
              <a:rPr sz="1050">
                <a:solidFill>
                  <a:srgbClr val="A8FFA8"/>
                </a:solidFill>
                <a:latin typeface="Courier New"/>
              </a:rPr>
              <a:t>  - name: source</a:t>
            </a:r>
          </a:p>
          <a:p>
            <a:r>
              <a:rPr sz="1050">
                <a:solidFill>
                  <a:srgbClr val="F0A050"/>
                </a:solidFill>
                <a:latin typeface="Courier New"/>
              </a:rPr>
              <a:t>    mountPath: /src</a:t>
            </a:r>
          </a:p>
          <a:p>
            <a:r>
              <a:rPr sz="1050">
                <a:solidFill>
                  <a:srgbClr val="DDDDDD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557755"/>
                </a:solidFill>
                <a:latin typeface="Courier New"/>
              </a:rPr>
              <a:t>- name: git-sync          # 사이드카</a:t>
            </a:r>
          </a:p>
          <a:p>
            <a:r>
              <a:rPr sz="1050">
                <a:solidFill>
                  <a:srgbClr val="F0A050"/>
                </a:solidFill>
                <a:latin typeface="Courier New"/>
              </a:rPr>
              <a:t>  image: registry.k8s.io/git-sync/git-sync:v4</a:t>
            </a:r>
          </a:p>
          <a:p>
            <a:r>
              <a:rPr sz="1050">
                <a:solidFill>
                  <a:srgbClr val="79C0FF"/>
                </a:solidFill>
                <a:latin typeface="Courier New"/>
              </a:rPr>
              <a:t>  volumeMounts:</a:t>
            </a:r>
          </a:p>
          <a:p>
            <a:r>
              <a:rPr sz="1050">
                <a:solidFill>
                  <a:srgbClr val="A8FFA8"/>
                </a:solidFill>
                <a:latin typeface="Courier New"/>
              </a:rPr>
              <a:t>  - name: source</a:t>
            </a:r>
          </a:p>
          <a:p>
            <a:r>
              <a:rPr sz="1050">
                <a:solidFill>
                  <a:srgbClr val="F0A050"/>
                </a:solidFill>
                <a:latin typeface="Courier New"/>
              </a:rPr>
              <a:t>    mountPath: /tmp/git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0804" y="6372000"/>
            <a:ext cx="5922396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F39C12"/>
                </a:solidFill>
              </a:rPr>
              <a:t>▲  git-sync 가 주기적으로 repo 를 pull → emptyDir 에 반영 → app 이 읽음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3200" y="6462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446688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400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34000"/>
            <a:ext cx="111132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hostPath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48000"/>
            <a:ext cx="1111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AACC"/>
                </a:solidFill>
              </a:rPr>
              <a:t>노드의 파일시스템 경로를 파드 안으로 마운트 — 파드가 삭제되어도 데이터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007999"/>
            <a:ext cx="5365008" cy="4500000"/>
          </a:xfrm>
          <a:prstGeom prst="roundRect">
            <a:avLst>
              <a:gd name="adj" fmla="val 3000"/>
            </a:avLst>
          </a:prstGeom>
          <a:solidFill>
            <a:srgbClr val="081422"/>
          </a:solidFill>
          <a:ln w="12700">
            <a:solidFill>
              <a:srgbClr val="44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079999"/>
            <a:ext cx="90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557799"/>
                </a:solidFill>
              </a:rPr>
              <a:t>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6000" y="1367999"/>
            <a:ext cx="2038703" cy="3780000"/>
          </a:xfrm>
          <a:prstGeom prst="roundRect">
            <a:avLst>
              <a:gd name="adj" fmla="val 3000"/>
            </a:avLst>
          </a:prstGeom>
          <a:solidFill>
            <a:srgbClr val="122212"/>
          </a:solidFill>
          <a:ln w="12700">
            <a:solidFill>
              <a:srgbClr val="337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000" y="1421999"/>
            <a:ext cx="2038703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5AA55"/>
                </a:solidFill>
              </a:rPr>
              <a:t>Host Filesystem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" y="1673999"/>
            <a:ext cx="1894703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7CC77"/>
                </a:solidFill>
              </a:rPr>
              <a:t>/var/log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000" y="2033999"/>
            <a:ext cx="1894703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7CC77"/>
                </a:solidFill>
              </a:rPr>
              <a:t>/var/run/docker.sock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" y="2393999"/>
            <a:ext cx="1894703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7CC77"/>
                </a:solidFill>
              </a:rPr>
              <a:t>/etc/hostname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000" y="2753999"/>
            <a:ext cx="1894703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7CC77"/>
                </a:solidFill>
              </a:rPr>
              <a:t>/sys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000" y="3113999"/>
            <a:ext cx="1894703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77CC77"/>
                </a:solidFill>
              </a:rPr>
              <a:t>/proc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4703" y="1547999"/>
            <a:ext cx="2714304" cy="3420000"/>
          </a:xfrm>
          <a:prstGeom prst="roundRect">
            <a:avLst>
              <a:gd name="adj" fmla="val 4000"/>
            </a:avLst>
          </a:prstGeom>
          <a:solidFill>
            <a:srgbClr val="0E1F35"/>
          </a:solidFill>
          <a:ln w="1524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4703" y="1601999"/>
            <a:ext cx="72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26CE5"/>
                </a:solidFill>
              </a:rPr>
              <a:t>Pod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82703" y="1871999"/>
            <a:ext cx="2498304" cy="1080000"/>
          </a:xfrm>
          <a:prstGeom prst="rect">
            <a:avLst/>
          </a:prstGeom>
          <a:solidFill>
            <a:srgbClr val="142238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82703" y="1925999"/>
            <a:ext cx="2498304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88BBFF"/>
                </a:solidFill>
              </a:rPr>
              <a:t>Container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703" y="2195999"/>
            <a:ext cx="2354304" cy="234000"/>
          </a:xfrm>
          <a:prstGeom prst="rect">
            <a:avLst/>
          </a:prstGeom>
          <a:solidFill>
            <a:srgbClr val="1A2E1A"/>
          </a:solidFill>
          <a:ln w="10160">
            <a:solidFill>
              <a:srgbClr val="44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703" y="2231999"/>
            <a:ext cx="2354304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7CC77"/>
                </a:solidFill>
              </a:rPr>
              <a:t>mountPath: /logs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703" y="2501999"/>
            <a:ext cx="2354304" cy="234000"/>
          </a:xfrm>
          <a:prstGeom prst="rect">
            <a:avLst/>
          </a:prstGeom>
          <a:solidFill>
            <a:srgbClr val="1A2E1A"/>
          </a:solidFill>
          <a:ln w="10160">
            <a:solidFill>
              <a:srgbClr val="44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703" y="2537999"/>
            <a:ext cx="2354304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7CC77"/>
                </a:solidFill>
              </a:rPr>
              <a:t>mountPath: /docker.sock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94703" y="1753199"/>
            <a:ext cx="288000" cy="216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94703" y="2113199"/>
            <a:ext cx="288000" cy="21600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30804" y="1007999"/>
            <a:ext cx="5922396" cy="1800000"/>
          </a:xfrm>
          <a:prstGeom prst="roundRect">
            <a:avLst>
              <a:gd name="adj" fmla="val 4000"/>
            </a:avLst>
          </a:prstGeom>
          <a:solidFill>
            <a:srgbClr val="0E1F35"/>
          </a:solidFill>
          <a:ln w="1524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300" b="1">
                <a:solidFill>
                  <a:srgbClr val="88BBFF"/>
                </a:solidFill>
              </a:rPr>
              <a:t>주요 사용 사례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노드 로그 수집 에이전트 (DaemonSet)</a:t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Docker/containerd 소켓 접근</a:t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노드 시스템 메트릭 수집 (Prometheus node-exporter)</a:t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/proc, /sys 등 커널 인터페이스 접근</a:t>
            </a:r>
          </a:p>
          <a:p>
            <a:pPr algn="l"/>
            <a:r>
              <a:rPr sz="1200" b="0">
                <a:solidFill>
                  <a:srgbClr val="CCDDEE"/>
                </a:solidFill>
              </a:rPr>
              <a:t>• 단일 노드 개발 환경에서 빠른 스토리지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30804" y="2916000"/>
            <a:ext cx="5922396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88BBFF"/>
                </a:solidFill>
              </a:rPr>
              <a:t>YAML 예시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30804" y="3168000"/>
            <a:ext cx="5922396" cy="3131999"/>
          </a:xfrm>
          <a:prstGeom prst="rect">
            <a:avLst/>
          </a:prstGeom>
          <a:solidFill>
            <a:srgbClr val="08121E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4804" y="3276000"/>
            <a:ext cx="5634396" cy="29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79C0FF"/>
                </a:solidFill>
                <a:latin typeface="Courier New"/>
              </a:rPr>
              <a:t>volumes:</a:t>
            </a:r>
          </a:p>
          <a:p>
            <a:r>
              <a:rPr sz="1050">
                <a:solidFill>
                  <a:srgbClr val="A8FFA8"/>
                </a:solidFill>
                <a:latin typeface="Courier New"/>
              </a:rPr>
              <a:t>- name: log-storage</a:t>
            </a:r>
          </a:p>
          <a:p>
            <a:r>
              <a:rPr sz="1050">
                <a:solidFill>
                  <a:srgbClr val="79C0FF"/>
                </a:solidFill>
                <a:latin typeface="Courier New"/>
              </a:rPr>
              <a:t>  hostPath:</a:t>
            </a:r>
          </a:p>
          <a:p>
            <a:r>
              <a:rPr sz="1050">
                <a:solidFill>
                  <a:srgbClr val="F0A050"/>
                </a:solidFill>
                <a:latin typeface="Courier New"/>
              </a:rPr>
              <a:t>    path: /var/log</a:t>
            </a:r>
          </a:p>
          <a:p>
            <a:r>
              <a:rPr sz="1050">
                <a:solidFill>
                  <a:srgbClr val="F0A050"/>
                </a:solidFill>
                <a:latin typeface="Courier New"/>
              </a:rPr>
              <a:t>    type: DirectoryOrCreate</a:t>
            </a:r>
          </a:p>
          <a:p>
            <a:r>
              <a:rPr sz="1050">
                <a:solidFill>
                  <a:srgbClr val="DDDDDD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A8FFA8"/>
                </a:solidFill>
                <a:latin typeface="Courier New"/>
              </a:rPr>
              <a:t>- name: docker-sock</a:t>
            </a:r>
          </a:p>
          <a:p>
            <a:r>
              <a:rPr sz="1050">
                <a:solidFill>
                  <a:srgbClr val="79C0FF"/>
                </a:solidFill>
                <a:latin typeface="Courier New"/>
              </a:rPr>
              <a:t>  hostPath:</a:t>
            </a:r>
          </a:p>
          <a:p>
            <a:r>
              <a:rPr sz="1050">
                <a:solidFill>
                  <a:srgbClr val="F0A050"/>
                </a:solidFill>
                <a:latin typeface="Courier New"/>
              </a:rPr>
              <a:t>    path: /var/run/docker.sock</a:t>
            </a:r>
          </a:p>
          <a:p>
            <a:r>
              <a:rPr sz="1050">
                <a:solidFill>
                  <a:srgbClr val="F0A050"/>
                </a:solidFill>
                <a:latin typeface="Courier New"/>
              </a:rPr>
              <a:t>    type: Socket</a:t>
            </a:r>
          </a:p>
          <a:p>
            <a:r>
              <a:rPr sz="1050">
                <a:solidFill>
                  <a:srgbClr val="DDDDDD"/>
                </a:solidFill>
                <a:latin typeface="Courier New"/>
              </a:rPr>
              <a:t/>
            </a:r>
          </a:p>
          <a:p>
            <a:r>
              <a:rPr sz="1050">
                <a:solidFill>
                  <a:srgbClr val="79C0FF"/>
                </a:solidFill>
                <a:latin typeface="Courier New"/>
              </a:rPr>
              <a:t>containers:</a:t>
            </a:r>
          </a:p>
          <a:p>
            <a:r>
              <a:rPr sz="1050">
                <a:solidFill>
                  <a:srgbClr val="A8FFA8"/>
                </a:solidFill>
                <a:latin typeface="Courier New"/>
              </a:rPr>
              <a:t>- name: log-agent</a:t>
            </a:r>
          </a:p>
          <a:p>
            <a:r>
              <a:rPr sz="1050">
                <a:solidFill>
                  <a:srgbClr val="79C0FF"/>
                </a:solidFill>
                <a:latin typeface="Courier New"/>
              </a:rPr>
              <a:t>  volumeMounts:</a:t>
            </a:r>
          </a:p>
          <a:p>
            <a:r>
              <a:rPr sz="1050">
                <a:solidFill>
                  <a:srgbClr val="A8FFA8"/>
                </a:solidFill>
                <a:latin typeface="Courier New"/>
              </a:rPr>
              <a:t>  - name: log-storage</a:t>
            </a:r>
          </a:p>
          <a:p>
            <a:r>
              <a:rPr sz="1050">
                <a:solidFill>
                  <a:srgbClr val="F0A050"/>
                </a:solidFill>
                <a:latin typeface="Courier New"/>
              </a:rPr>
              <a:t>    mountPath: /logs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3200" y="6462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446688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400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34000"/>
            <a:ext cx="111132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hostPath  —  이렇게 쓰면 안 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720000"/>
            <a:ext cx="11113200" cy="540000"/>
          </a:xfrm>
          <a:prstGeom prst="roundRect">
            <a:avLst>
              <a:gd name="adj" fmla="val 4000"/>
            </a:avLst>
          </a:prstGeom>
          <a:solidFill>
            <a:srgbClr val="1A0808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16000" tIns="100800"/>
          <a:lstStyle/>
          <a:p>
            <a:pPr algn="ctr"/>
            <a:r>
              <a:rPr sz="1400" b="1">
                <a:solidFill>
                  <a:srgbClr val="FF8888"/>
                </a:solidFill>
              </a:rPr>
              <a:t>hostPath 는 노드 파일시스템 탐색 전용 — 여러 파드에 걸친 데이터 영속화에 절대 사용하지 말 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440000"/>
            <a:ext cx="5286600" cy="2700000"/>
          </a:xfrm>
          <a:prstGeom prst="roundRect">
            <a:avLst>
              <a:gd name="adj" fmla="val 4000"/>
            </a:avLst>
          </a:prstGeom>
          <a:solidFill>
            <a:srgbClr val="0E2014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12000"/>
            <a:ext cx="5286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2ECC71"/>
                </a:solidFill>
              </a:rPr>
              <a:t>Node  (정상)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" y="1800000"/>
            <a:ext cx="4998600" cy="360000"/>
          </a:xfrm>
          <a:prstGeom prst="rect">
            <a:avLst/>
          </a:prstGeom>
          <a:solidFill>
            <a:srgbClr val="0A2A14"/>
          </a:solidFill>
          <a:ln w="101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000" y="1872000"/>
            <a:ext cx="4926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55DD88"/>
                </a:solidFill>
              </a:rPr>
              <a:t>/data  (hostPath)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2304000"/>
            <a:ext cx="2445300" cy="396000"/>
          </a:xfrm>
          <a:prstGeom prst="roundRect">
            <a:avLst>
              <a:gd name="adj" fmla="val 4000"/>
            </a:avLst>
          </a:prstGeom>
          <a:solidFill>
            <a:srgbClr val="142238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4000" y="2376000"/>
            <a:ext cx="24453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326CE5"/>
                </a:solidFill>
              </a:rPr>
              <a:t>Pod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92250" y="2160000"/>
            <a:ext cx="288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37300" y="2304000"/>
            <a:ext cx="2445300" cy="396000"/>
          </a:xfrm>
          <a:prstGeom prst="roundRect">
            <a:avLst>
              <a:gd name="adj" fmla="val 4000"/>
            </a:avLst>
          </a:prstGeom>
          <a:solidFill>
            <a:srgbClr val="142238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37300" y="2376000"/>
            <a:ext cx="24453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9B59B6"/>
                </a:solidFill>
              </a:rPr>
              <a:t>Pod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5550" y="2160000"/>
            <a:ext cx="28800" cy="144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16600" y="2646000"/>
            <a:ext cx="36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4601" y="2898000"/>
            <a:ext cx="503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AA4444"/>
                </a:solidFill>
              </a:rPr>
              <a:t>노드 장애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6600" y="1440000"/>
            <a:ext cx="5286600" cy="2700000"/>
          </a:xfrm>
          <a:prstGeom prst="roundRect">
            <a:avLst>
              <a:gd name="adj" fmla="val 4000"/>
            </a:avLst>
          </a:prstGeom>
          <a:solidFill>
            <a:srgbClr val="220808"/>
          </a:solidFill>
          <a:ln w="190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4600" y="1512000"/>
            <a:ext cx="5286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E54B4B"/>
                </a:solidFill>
              </a:rPr>
              <a:t>Node  (장애)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10600" y="1800000"/>
            <a:ext cx="4998600" cy="360000"/>
          </a:xfrm>
          <a:prstGeom prst="rect">
            <a:avLst/>
          </a:prstGeom>
          <a:solidFill>
            <a:srgbClr val="2A0A0A"/>
          </a:solidFill>
          <a:ln w="1016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0600" y="1872000"/>
            <a:ext cx="49266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DD5555"/>
                </a:solidFill>
              </a:rPr>
              <a:t>/data  (hostPath)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9900" y="2574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E54B4B"/>
                </a:solidFill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6600" y="2898000"/>
            <a:ext cx="52866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E54B4B"/>
                </a:solidFill>
              </a:rPr>
              <a:t>Node 장애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66600" y="4356000"/>
            <a:ext cx="5286600" cy="432000"/>
          </a:xfrm>
          <a:prstGeom prst="roundRect">
            <a:avLst>
              <a:gd name="adj" fmla="val 4000"/>
            </a:avLst>
          </a:prstGeom>
          <a:solidFill>
            <a:srgbClr val="2A0808"/>
          </a:solidFill>
          <a:ln w="1524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8000" tIns="64800"/>
          <a:lstStyle/>
          <a:p>
            <a:pPr algn="ctr"/>
            <a:r>
              <a:rPr sz="1200" b="1">
                <a:solidFill>
                  <a:srgbClr val="F06060"/>
                </a:solidFill>
              </a:rPr>
              <a:t>/data 의 모든 데이터 영구 소멸</a:t>
            </a:r>
          </a:p>
          <a:p>
            <a:pPr algn="ctr"/>
            <a:r>
              <a:rPr sz="1000">
                <a:solidFill>
                  <a:srgbClr val="CC8888"/>
                </a:solidFill>
              </a:rPr>
              <a:t>Pod A, Pod B 모두 접근 불가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000" y="4932000"/>
            <a:ext cx="5412600" cy="1566000"/>
          </a:xfrm>
          <a:prstGeom prst="roundRect">
            <a:avLst>
              <a:gd name="adj" fmla="val 4000"/>
            </a:avLst>
          </a:prstGeom>
          <a:solidFill>
            <a:srgbClr val="0A2012"/>
          </a:solidFill>
          <a:ln w="1524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300" b="1">
                <a:solidFill>
                  <a:srgbClr val="2ECC71"/>
                </a:solidFill>
              </a:rPr>
              <a:t>✓  이런 경우에만 쓸 것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AADDAA"/>
                </a:solidFill>
              </a:rPr>
              <a:t>노드 로그·메트릭 수집 에이전트 (DaemonSet)</a:t>
            </a:r>
          </a:p>
          <a:p>
            <a:pPr algn="l"/>
            <a:r>
              <a:rPr sz="1200" b="0">
                <a:solidFill>
                  <a:srgbClr val="AADDAA"/>
                </a:solidFill>
              </a:rPr>
              <a:t>Docker / containerd 소켓 접근</a:t>
            </a:r>
          </a:p>
          <a:p>
            <a:pPr algn="l"/>
            <a:r>
              <a:rPr sz="1200" b="0">
                <a:solidFill>
                  <a:srgbClr val="AADDAA"/>
                </a:solidFill>
              </a:rPr>
              <a:t>/proc, /sys 등 커널 인터페이스 읽기</a:t>
            </a:r>
          </a:p>
          <a:p>
            <a:pPr algn="l"/>
            <a:r>
              <a:rPr sz="1100" b="1">
                <a:solidFill>
                  <a:srgbClr val="55CC77"/>
                </a:solidFill>
              </a:rPr>
              <a:t>→ 파드가 어느 노드에 뜨든 해당 노드 FS를 탐색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0600" y="4932000"/>
            <a:ext cx="5412600" cy="1566000"/>
          </a:xfrm>
          <a:prstGeom prst="roundRect">
            <a:avLst>
              <a:gd name="adj" fmla="val 4000"/>
            </a:avLst>
          </a:prstGeom>
          <a:solidFill>
            <a:srgbClr val="220808"/>
          </a:solidFill>
          <a:ln w="1524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tIns="108000"/>
          <a:lstStyle/>
          <a:p>
            <a:pPr algn="l"/>
            <a:r>
              <a:rPr sz="1300" b="1">
                <a:solidFill>
                  <a:srgbClr val="F06060"/>
                </a:solidFill>
              </a:rPr>
              <a:t>✗  이런 용도는 절대 안 됨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CCAAAA"/>
                </a:solidFill>
              </a:rPr>
              <a:t>여러 파드가 공유하는 데이터 저장소</a:t>
            </a:r>
          </a:p>
          <a:p>
            <a:pPr algn="l"/>
            <a:r>
              <a:rPr sz="1200" b="0">
                <a:solidFill>
                  <a:srgbClr val="CCAAAA"/>
                </a:solidFill>
              </a:rPr>
              <a:t>DB 데이터 디렉토리 (노드 고정 필요)</a:t>
            </a:r>
          </a:p>
          <a:p>
            <a:pPr algn="l"/>
            <a:r>
              <a:rPr sz="1200" b="0">
                <a:solidFill>
                  <a:srgbClr val="CCAAAA"/>
                </a:solidFill>
              </a:rPr>
              <a:t>파드 재스케줄링 후에도 유지되어야 할 데이터</a:t>
            </a:r>
          </a:p>
          <a:p>
            <a:pPr algn="l"/>
            <a:r>
              <a:rPr sz="1100" b="1">
                <a:solidFill>
                  <a:srgbClr val="FF9944"/>
                </a:solidFill>
              </a:rPr>
              <a:t>→ 영속화가 필요하면 PersistentVolume 을 쓸 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3200" y="6462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446688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400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34000"/>
            <a:ext cx="111132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퍼시스턴트 스토리지 — 파드에 직접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48000"/>
            <a:ext cx="1111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AACC"/>
                </a:solidFill>
              </a:rPr>
              <a:t>외부 스토리지 리소스를 파드 볼륨 스펙에 직접 기술 — 파드가 삭제되어도 스토리지 데이터는 유지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05134" y="1493999"/>
            <a:ext cx="1775329" cy="1007999"/>
          </a:xfrm>
          <a:prstGeom prst="roundRect">
            <a:avLst>
              <a:gd name="adj" fmla="val 4000"/>
            </a:avLst>
          </a:prstGeom>
          <a:solidFill>
            <a:srgbClr val="1A2610"/>
          </a:solidFill>
          <a:ln w="1905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05134" y="1565999"/>
            <a:ext cx="1775329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BC34A"/>
                </a:solidFill>
              </a:rPr>
              <a:t>AWS EBS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05134" y="1817999"/>
            <a:ext cx="177532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9CC55"/>
                </a:solidFill>
              </a:rPr>
              <a:t>vol-0a1b2c3d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5134" y="2033999"/>
            <a:ext cx="177532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77AA44"/>
                </a:solidFill>
              </a:rPr>
              <a:t>(실제 블록 스토리지)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1007999"/>
            <a:ext cx="2789804" cy="1980000"/>
          </a:xfrm>
          <a:prstGeom prst="roundRect">
            <a:avLst>
              <a:gd name="adj" fmla="val 4000"/>
            </a:avLst>
          </a:prstGeom>
          <a:solidFill>
            <a:srgbClr val="0E1F35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1079999"/>
            <a:ext cx="72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326CE5"/>
                </a:solidFill>
              </a:rPr>
              <a:t>Pod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4000" y="1331999"/>
            <a:ext cx="2501804" cy="720000"/>
          </a:xfrm>
          <a:prstGeom prst="rect">
            <a:avLst/>
          </a:prstGeom>
          <a:solidFill>
            <a:srgbClr val="142238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4000" y="1385999"/>
            <a:ext cx="2501804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88BBFF"/>
                </a:solidFill>
              </a:rPr>
              <a:t>Container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000" y="1619999"/>
            <a:ext cx="2285804" cy="234000"/>
          </a:xfrm>
          <a:prstGeom prst="rect">
            <a:avLst/>
          </a:prstGeom>
          <a:solidFill>
            <a:srgbClr val="1A2E1A"/>
          </a:solidFill>
          <a:ln w="10160">
            <a:solidFill>
              <a:srgbClr val="4488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000" y="1655999"/>
            <a:ext cx="2285804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7CC77"/>
                </a:solidFill>
              </a:rPr>
              <a:t>mountPath: /data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4000" y="2195999"/>
            <a:ext cx="2501804" cy="468000"/>
          </a:xfrm>
          <a:prstGeom prst="rect">
            <a:avLst/>
          </a:prstGeom>
          <a:solidFill>
            <a:srgbClr val="122210"/>
          </a:solidFill>
          <a:ln w="15240">
            <a:solidFill>
              <a:srgbClr val="8BC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4000" y="2231999"/>
            <a:ext cx="2501804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8BC34A"/>
                </a:solidFill>
              </a:rPr>
              <a:t>volume: awsElasticBlockStore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000" y="2447998"/>
            <a:ext cx="2501804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77AA44"/>
                </a:solidFill>
              </a:rPr>
              <a:t>volumeID: vol-0a1b2c3d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502" y="2051999"/>
            <a:ext cx="28800" cy="144000"/>
          </a:xfrm>
          <a:prstGeom prst="rect">
            <a:avLst/>
          </a:prstGeom>
          <a:solidFill>
            <a:srgbClr val="44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85804" y="2415599"/>
            <a:ext cx="1919329" cy="28800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97134" y="2350799"/>
            <a:ext cx="108000" cy="158400"/>
          </a:xfrm>
          <a:prstGeom prst="roundRect">
            <a:avLst>
              <a:gd name="adj" fmla="val 50000"/>
            </a:avLst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7737" y="2231999"/>
            <a:ext cx="1535463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8BC34A"/>
                </a:solidFill>
              </a:rPr>
              <a:t>직접 참조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80464" y="1007999"/>
            <a:ext cx="4772736" cy="1980000"/>
          </a:xfrm>
          <a:prstGeom prst="rect">
            <a:avLst/>
          </a:prstGeom>
          <a:solidFill>
            <a:srgbClr val="08121E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4464" y="1079999"/>
            <a:ext cx="4484736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88BBFF"/>
                </a:solidFill>
              </a:rPr>
              <a:t>awsElasticBlockStore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4464" y="1295999"/>
            <a:ext cx="4484736" cy="16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79C0FF"/>
                </a:solidFill>
                <a:latin typeface="Courier New"/>
              </a:rPr>
              <a:t>volumes:</a:t>
            </a:r>
          </a:p>
          <a:p>
            <a:r>
              <a:rPr sz="1000">
                <a:solidFill>
                  <a:srgbClr val="A8FFA8"/>
                </a:solidFill>
                <a:latin typeface="Courier New"/>
              </a:rPr>
              <a:t>- name: data</a:t>
            </a:r>
          </a:p>
          <a:p>
            <a:r>
              <a:rPr sz="1000">
                <a:solidFill>
                  <a:srgbClr val="79C0FF"/>
                </a:solidFill>
                <a:latin typeface="Courier New"/>
              </a:rPr>
              <a:t>  awsElasticBlockStore:</a:t>
            </a:r>
          </a:p>
          <a:p>
            <a:r>
              <a:rPr sz="1000">
                <a:solidFill>
                  <a:srgbClr val="F0A050"/>
                </a:solidFill>
                <a:latin typeface="Courier New"/>
              </a:rPr>
              <a:t>    volumeID: vol-0a1b2c3d</a:t>
            </a:r>
          </a:p>
          <a:p>
            <a:r>
              <a:rPr sz="1000">
                <a:solidFill>
                  <a:srgbClr val="F0A050"/>
                </a:solidFill>
                <a:latin typeface="Courier New"/>
              </a:rPr>
              <a:t>    fsType: ext4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000" y="3005999"/>
            <a:ext cx="111132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AABBCC"/>
                </a:solidFill>
              </a:rPr>
              <a:t>지원하는 주요 외부 스토리지 타입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0000" y="3203999"/>
            <a:ext cx="5448600" cy="342000"/>
          </a:xfrm>
          <a:prstGeom prst="roundRect">
            <a:avLst>
              <a:gd name="adj" fmla="val 4000"/>
            </a:avLst>
          </a:prstGeom>
          <a:solidFill>
            <a:srgbClr val="0E1A28"/>
          </a:solidFill>
          <a:ln w="1016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000" y="3239999"/>
            <a:ext cx="2724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A500"/>
                </a:solidFill>
              </a:rPr>
              <a:t>awsElasticBlockStore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64300" y="3239999"/>
            <a:ext cx="261532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</a:rPr>
              <a:t>AWS EC2 블록 스토리지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6600" y="3203999"/>
            <a:ext cx="5448600" cy="342000"/>
          </a:xfrm>
          <a:prstGeom prst="roundRect">
            <a:avLst>
              <a:gd name="adj" fmla="val 4000"/>
            </a:avLst>
          </a:prstGeom>
          <a:solidFill>
            <a:srgbClr val="0E1A28"/>
          </a:solidFill>
          <a:ln w="1016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4600" y="3239999"/>
            <a:ext cx="2724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CAF50"/>
                </a:solidFill>
              </a:rPr>
              <a:t>gcePersistentDisk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0900" y="3239999"/>
            <a:ext cx="261532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</a:rPr>
              <a:t>GCP 영구 디스크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0000" y="3599999"/>
            <a:ext cx="5448600" cy="342000"/>
          </a:xfrm>
          <a:prstGeom prst="roundRect">
            <a:avLst>
              <a:gd name="adj" fmla="val 4000"/>
            </a:avLst>
          </a:prstGeom>
          <a:solidFill>
            <a:srgbClr val="0E1A28"/>
          </a:solidFill>
          <a:ln w="1016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8000" y="3635999"/>
            <a:ext cx="2724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78D4"/>
                </a:solidFill>
              </a:rPr>
              <a:t>azureDisk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4300" y="3635999"/>
            <a:ext cx="261532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</a:rPr>
              <a:t>Azure 관리 디스크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6600" y="3599999"/>
            <a:ext cx="5448600" cy="342000"/>
          </a:xfrm>
          <a:prstGeom prst="roundRect">
            <a:avLst>
              <a:gd name="adj" fmla="val 4000"/>
            </a:avLst>
          </a:prstGeom>
          <a:solidFill>
            <a:srgbClr val="0E1A28"/>
          </a:solidFill>
          <a:ln w="10160"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4600" y="3635999"/>
            <a:ext cx="2724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9C0FF"/>
                </a:solidFill>
              </a:rPr>
              <a:t>nfs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0900" y="3635999"/>
            <a:ext cx="261532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</a:rPr>
              <a:t>NFS 서버 마운트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0000" y="3995999"/>
            <a:ext cx="5448600" cy="342000"/>
          </a:xfrm>
          <a:prstGeom prst="roundRect">
            <a:avLst>
              <a:gd name="adj" fmla="val 4000"/>
            </a:avLst>
          </a:prstGeom>
          <a:solidFill>
            <a:srgbClr val="0E1A28"/>
          </a:solidFill>
          <a:ln w="10160">
            <a:solidFill>
              <a:srgbClr val="EE8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000" y="4031999"/>
            <a:ext cx="2724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EE82EE"/>
                </a:solidFill>
              </a:rPr>
              <a:t>cephfs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64300" y="4031999"/>
            <a:ext cx="261532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</a:rPr>
              <a:t>Ceph 분산 파일시스템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76600" y="3995999"/>
            <a:ext cx="5448600" cy="342000"/>
          </a:xfrm>
          <a:prstGeom prst="roundRect">
            <a:avLst>
              <a:gd name="adj" fmla="val 4000"/>
            </a:avLst>
          </a:prstGeom>
          <a:solidFill>
            <a:srgbClr val="0E1A28"/>
          </a:solidFill>
          <a:ln w="10160">
            <a:solidFill>
              <a:srgbClr val="F0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4600" y="4031999"/>
            <a:ext cx="27243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0A050"/>
                </a:solidFill>
              </a:rPr>
              <a:t>iscsi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0900" y="4031999"/>
            <a:ext cx="2615328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BBCCDD"/>
                </a:solidFill>
              </a:rPr>
              <a:t>iSCSI 블록 스토리지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93200" y="6462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446688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400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34000"/>
            <a:ext cx="111132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직접 정의 방식의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48000"/>
            <a:ext cx="1111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AACC"/>
                </a:solidFill>
              </a:rPr>
              <a:t>파드 스펙에 인프라 세부 정보를 직접 기술하면 어떤 문제가 생기는가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1007999"/>
            <a:ext cx="11113200" cy="1620000"/>
          </a:xfrm>
          <a:prstGeom prst="roundRect">
            <a:avLst>
              <a:gd name="adj" fmla="val 4000"/>
            </a:avLst>
          </a:prstGeom>
          <a:solidFill>
            <a:srgbClr val="200A0A"/>
          </a:solidFill>
          <a:ln w="190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25999"/>
          <a:lstStyle/>
          <a:p>
            <a:pPr algn="l"/>
            <a:r>
              <a:rPr sz="1500" b="1">
                <a:solidFill>
                  <a:srgbClr val="F06060"/>
                </a:solidFill>
              </a:rPr>
              <a:t>① 파드가 특정 클라우드 / 인프라에 종속된다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CCAAAA"/>
                </a:solidFill>
              </a:rPr>
              <a:t>awsElasticBlockStore 를 쓴 파드 스펙은 AWS 에서만 동작</a:t>
            </a:r>
          </a:p>
          <a:p>
            <a:pPr algn="l"/>
            <a:r>
              <a:rPr sz="1200" b="0">
                <a:solidFill>
                  <a:srgbClr val="CCAAAA"/>
                </a:solidFill>
              </a:rPr>
              <a:t>동일한 앱을 GCP 나 온프레미스에 배포하려면 파드 스펙 자체를 수정해야 함</a:t>
            </a:r>
          </a:p>
          <a:p>
            <a:pPr algn="l"/>
            <a:r>
              <a:rPr sz="1200" b="0">
                <a:solidFill>
                  <a:srgbClr val="CCAAAA"/>
                </a:solidFill>
              </a:rPr>
              <a:t>개발·스테이징·프로덕션 환경이 다른 클라우드라면 YAML 을 각각 따로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772000"/>
            <a:ext cx="11113200" cy="1620000"/>
          </a:xfrm>
          <a:prstGeom prst="roundRect">
            <a:avLst>
              <a:gd name="adj" fmla="val 4000"/>
            </a:avLst>
          </a:prstGeom>
          <a:solidFill>
            <a:srgbClr val="200A0A"/>
          </a:solidFill>
          <a:ln w="190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25999"/>
          <a:lstStyle/>
          <a:p>
            <a:pPr algn="l"/>
            <a:r>
              <a:rPr sz="1500" b="1">
                <a:solidFill>
                  <a:srgbClr val="F06060"/>
                </a:solidFill>
              </a:rPr>
              <a:t>② 개발자가 인프라 세부 정보를 직접 알아야 한다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CCAAAA"/>
                </a:solidFill>
              </a:rPr>
              <a:t>volumeID, pdName, server 주소 등을 개발자가 직접 파드 스펙에 기입</a:t>
            </a:r>
          </a:p>
          <a:p>
            <a:pPr algn="l"/>
            <a:r>
              <a:rPr sz="1200" b="0">
                <a:solidFill>
                  <a:srgbClr val="CCAAAA"/>
                </a:solidFill>
              </a:rPr>
              <a:t>스토리지 관리는 인프라 팀 영역인데 앱 코드와 같은 YAML 에 혼재</a:t>
            </a:r>
          </a:p>
          <a:p>
            <a:pPr algn="l"/>
            <a:r>
              <a:rPr sz="1200" b="0">
                <a:solidFill>
                  <a:srgbClr val="CCAAAA"/>
                </a:solidFill>
              </a:rPr>
              <a:t>인프라가 변경될 때마다 파드 스펙도 함께 수정해야 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0000" y="4536000"/>
            <a:ext cx="11113200" cy="1980000"/>
          </a:xfrm>
          <a:prstGeom prst="roundRect">
            <a:avLst>
              <a:gd name="adj" fmla="val 4000"/>
            </a:avLst>
          </a:prstGeom>
          <a:solidFill>
            <a:srgbClr val="0A1F3A"/>
          </a:solidFill>
          <a:ln w="254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25999"/>
          <a:lstStyle/>
          <a:p>
            <a:pPr algn="l"/>
            <a:r>
              <a:rPr sz="1500" b="1">
                <a:solidFill>
                  <a:srgbClr val="88BBFF"/>
                </a:solidFill>
              </a:rPr>
              <a:t>그래서 Kubernetes 는 PersistentVolume / PVC 를 도입했다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AACCFF"/>
                </a:solidFill>
              </a:rPr>
              <a:t>스토리지 백엔드의 세부 구현을 PersistentVolume 으로 추상화</a:t>
            </a:r>
          </a:p>
          <a:p>
            <a:pPr algn="l"/>
            <a:r>
              <a:rPr sz="1200" b="0">
                <a:solidFill>
                  <a:srgbClr val="AACCFF"/>
                </a:solidFill>
              </a:rPr>
              <a:t>개발자는 PVC 로 '얼마나 필요한지'만 선언 — 어디서 오는지 몰라도 됨</a:t>
            </a:r>
          </a:p>
          <a:p>
            <a:pPr algn="l"/>
            <a:r>
              <a:rPr sz="1200" b="0">
                <a:solidFill>
                  <a:srgbClr val="AACCFF"/>
                </a:solidFill>
              </a:rPr>
              <a:t>파드 스펙은 인프라와 무관하게 유지 — 환경이 달라도 YAML 재사용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3200" y="6462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44668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400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34000"/>
            <a:ext cx="111132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PersistentVolume  &amp;  PersistentVolumeClaim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48000"/>
            <a:ext cx="1111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AACC"/>
                </a:solidFill>
              </a:rPr>
              <a:t>스토리지를 인프라(PV)와 요청(PVC)으로 분리해 개발자와 운영자의 역할을 나눈다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972000"/>
            <a:ext cx="5466600" cy="2232000"/>
          </a:xfrm>
          <a:prstGeom prst="roundRect">
            <a:avLst>
              <a:gd name="adj" fmla="val 4000"/>
            </a:avLst>
          </a:prstGeom>
          <a:solidFill>
            <a:srgbClr val="081E30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tIns="108000"/>
          <a:lstStyle/>
          <a:p>
            <a:pPr algn="l"/>
            <a:r>
              <a:rPr sz="1400" b="1">
                <a:solidFill>
                  <a:srgbClr val="79C0FF"/>
                </a:solidFill>
              </a:rPr>
              <a:t>PersistentVolume  (PV)</a:t>
            </a:r>
          </a:p>
          <a:p>
            <a:pPr algn="l"/>
            <a:r>
              <a:rPr sz="7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AACCFF"/>
                </a:solidFill>
              </a:rPr>
              <a:t>클러스터 레벨 스토리지 리소스</a:t>
            </a:r>
          </a:p>
          <a:p>
            <a:pPr algn="l"/>
            <a:r>
              <a:rPr sz="1100" b="0">
                <a:solidFill>
                  <a:srgbClr val="BBCCEE"/>
                </a:solidFill>
              </a:rPr>
              <a:t>• 클러스터 관리자가 사전에 생성</a:t>
            </a:r>
          </a:p>
          <a:p>
            <a:pPr algn="l"/>
            <a:r>
              <a:rPr sz="1100" b="0">
                <a:solidFill>
                  <a:srgbClr val="BBCCEE"/>
                </a:solidFill>
              </a:rPr>
              <a:t>• 용량, 접근 모드, 백엔드 타입 정의</a:t>
            </a:r>
          </a:p>
          <a:p>
            <a:pPr algn="l"/>
            <a:r>
              <a:rPr sz="1100" b="0">
                <a:solidFill>
                  <a:srgbClr val="BBCCEE"/>
                </a:solidFill>
              </a:rPr>
              <a:t>• 네임스페이스에 속하지 않음 (클러스터 전역)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77AADD"/>
                </a:solidFill>
              </a:rPr>
              <a:t>Phase:  Available → Bound → Released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6600" y="972000"/>
            <a:ext cx="5466600" cy="2232000"/>
          </a:xfrm>
          <a:prstGeom prst="roundRect">
            <a:avLst>
              <a:gd name="adj" fmla="val 4000"/>
            </a:avLst>
          </a:prstGeom>
          <a:solidFill>
            <a:srgbClr val="160E2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tIns="108000"/>
          <a:lstStyle/>
          <a:p>
            <a:pPr algn="l"/>
            <a:r>
              <a:rPr sz="1400" b="1">
                <a:solidFill>
                  <a:srgbClr val="CCAAFF"/>
                </a:solidFill>
              </a:rPr>
              <a:t>PersistentVolumeClaim  (PVC)</a:t>
            </a:r>
          </a:p>
          <a:p>
            <a:pPr algn="l"/>
            <a:r>
              <a:rPr sz="7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CCBBFF"/>
                </a:solidFill>
              </a:rPr>
              <a:t>개발자의 스토리지 요청</a:t>
            </a:r>
          </a:p>
          <a:p>
            <a:pPr algn="l"/>
            <a:r>
              <a:rPr sz="1100" b="0">
                <a:solidFill>
                  <a:srgbClr val="CCBBFF"/>
                </a:solidFill>
              </a:rPr>
              <a:t>• 필요한 용량과 접근 모드만 선언</a:t>
            </a:r>
          </a:p>
          <a:p>
            <a:pPr algn="l"/>
            <a:r>
              <a:rPr sz="1100" b="0">
                <a:solidFill>
                  <a:srgbClr val="CCBBFF"/>
                </a:solidFill>
              </a:rPr>
              <a:t>• 조건에 맞는 PV에 자동 바인딩됨</a:t>
            </a:r>
          </a:p>
          <a:p>
            <a:pPr algn="l"/>
            <a:r>
              <a:rPr sz="1100" b="0">
                <a:solidFill>
                  <a:srgbClr val="CCBBFF"/>
                </a:solidFill>
              </a:rPr>
              <a:t>• 네임스페이스에 속함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000" b="0">
                <a:solidFill>
                  <a:srgbClr val="AA88DD"/>
                </a:solidFill>
              </a:rPr>
              <a:t>Pod 에서 볼륨으로 참조해 마운트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3240000"/>
            <a:ext cx="121932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AABBCC"/>
                </a:solidFill>
              </a:rPr>
              <a:t>정적 프로비저닝 바인딩 흐름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3420000"/>
            <a:ext cx="2589300" cy="1007999"/>
          </a:xfrm>
          <a:prstGeom prst="roundRect">
            <a:avLst>
              <a:gd name="adj" fmla="val 4000"/>
            </a:avLst>
          </a:prstGeom>
          <a:solidFill>
            <a:srgbClr val="0A200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3671999"/>
            <a:ext cx="2589300" cy="6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CC71"/>
                </a:solidFill>
              </a:rPr>
              <a:t>스토리지
백엔드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9300" y="3909599"/>
            <a:ext cx="161999" cy="28800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73299" y="3844799"/>
            <a:ext cx="108000" cy="158400"/>
          </a:xfrm>
          <a:prstGeom prst="roundRect">
            <a:avLst>
              <a:gd name="adj" fmla="val 50000"/>
            </a:avLst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1299" y="3420000"/>
            <a:ext cx="2589300" cy="1007999"/>
          </a:xfrm>
          <a:prstGeom prst="roundRect">
            <a:avLst>
              <a:gd name="adj" fmla="val 4000"/>
            </a:avLst>
          </a:prstGeom>
          <a:solidFill>
            <a:srgbClr val="081E30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1299" y="3671999"/>
            <a:ext cx="2589300" cy="6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9C0FF"/>
                </a:solidFill>
              </a:rPr>
              <a:t>PV
(관리자 생성)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70600" y="3909599"/>
            <a:ext cx="161999" cy="28800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14599" y="3844799"/>
            <a:ext cx="108000" cy="158400"/>
          </a:xfrm>
          <a:prstGeom prst="roundRect">
            <a:avLst>
              <a:gd name="adj" fmla="val 50000"/>
            </a:avLst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22599" y="3420000"/>
            <a:ext cx="2589300" cy="1007999"/>
          </a:xfrm>
          <a:prstGeom prst="roundRect">
            <a:avLst>
              <a:gd name="adj" fmla="val 4000"/>
            </a:avLst>
          </a:prstGeom>
          <a:solidFill>
            <a:srgbClr val="160E2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2599" y="3671999"/>
            <a:ext cx="2589300" cy="6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CAAFF"/>
                </a:solidFill>
              </a:rPr>
              <a:t>PVC
(개발자 생성)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11900" y="3909599"/>
            <a:ext cx="161999" cy="28800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55899" y="3844799"/>
            <a:ext cx="108000" cy="158400"/>
          </a:xfrm>
          <a:prstGeom prst="roundRect">
            <a:avLst>
              <a:gd name="adj" fmla="val 50000"/>
            </a:avLst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63899" y="3420000"/>
            <a:ext cx="2589300" cy="1007999"/>
          </a:xfrm>
          <a:prstGeom prst="roundRect">
            <a:avLst>
              <a:gd name="adj" fmla="val 4000"/>
            </a:avLst>
          </a:prstGeom>
          <a:solidFill>
            <a:srgbClr val="141E10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3899" y="3671999"/>
            <a:ext cx="2589300" cy="6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CC77"/>
                </a:solidFill>
              </a:rPr>
              <a:t>Pod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4643999"/>
            <a:ext cx="5466600" cy="1890001"/>
          </a:xfrm>
          <a:prstGeom prst="rect">
            <a:avLst/>
          </a:prstGeom>
          <a:solidFill>
            <a:srgbClr val="08121E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000" y="4715999"/>
            <a:ext cx="5466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88BBFF"/>
                </a:solidFill>
              </a:rPr>
              <a:t>PersistentVolume (관리자)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000" y="4949999"/>
            <a:ext cx="5178600" cy="1512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79C0FF"/>
                </a:solidFill>
                <a:latin typeface="Courier New"/>
              </a:rPr>
              <a:t>apiVersion: v1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kind: PersistentVolume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metadata:</a:t>
            </a:r>
          </a:p>
          <a:p>
            <a:r>
              <a:rPr sz="950">
                <a:solidFill>
                  <a:srgbClr val="A8FFA8"/>
                </a:solidFill>
                <a:latin typeface="Courier New"/>
              </a:rPr>
              <a:t>  name: my-pv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spec: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  capacity: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  storage: 10Gi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  accessModes: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- ReadWriteOnce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persistentVolumeReclaimPolicy: Retain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  gcePersistentDisk: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  pdName: my-disk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  fsType: ext4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86600" y="4643999"/>
            <a:ext cx="5466600" cy="1890001"/>
          </a:xfrm>
          <a:prstGeom prst="rect">
            <a:avLst/>
          </a:prstGeom>
          <a:solidFill>
            <a:srgbClr val="08121E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0600" y="4715999"/>
            <a:ext cx="5466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88BBFF"/>
                </a:solidFill>
              </a:rPr>
              <a:t>PersistentVolumeClaim (개발자)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0600" y="4949999"/>
            <a:ext cx="5178600" cy="1512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79C0FF"/>
                </a:solidFill>
                <a:latin typeface="Courier New"/>
              </a:rPr>
              <a:t>apiVersion: v1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kind: PersistentVolumeClaim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metadata:</a:t>
            </a:r>
          </a:p>
          <a:p>
            <a:r>
              <a:rPr sz="950">
                <a:solidFill>
                  <a:srgbClr val="A8FFA8"/>
                </a:solidFill>
                <a:latin typeface="Courier New"/>
              </a:rPr>
              <a:t>  name: my-pvc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spec: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  accessModes: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- ReadWriteOnce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  resources: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    requests: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    storage: 10Gi</a:t>
            </a:r>
          </a:p>
          <a:p>
            <a:r>
              <a:rPr sz="950">
                <a:solidFill>
                  <a:srgbClr val="DDDDDD"/>
                </a:solidFill>
                <a:latin typeface="Courier New"/>
              </a:rPr>
              <a:t>---</a:t>
            </a:r>
          </a:p>
          <a:p>
            <a:r>
              <a:rPr sz="950">
                <a:solidFill>
                  <a:srgbClr val="558855"/>
                </a:solidFill>
                <a:latin typeface="Courier New"/>
              </a:rPr>
              <a:t># Pod 에서 PVC 참조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volumes:</a:t>
            </a:r>
          </a:p>
          <a:p>
            <a:r>
              <a:rPr sz="950">
                <a:solidFill>
                  <a:srgbClr val="A8FFA8"/>
                </a:solidFill>
                <a:latin typeface="Courier New"/>
              </a:rPr>
              <a:t>- name: data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  persistentVolumeClaim: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  claimName: my-pvc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3200" y="6462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44668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400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34000"/>
            <a:ext cx="111132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동적 프로비저닝  &amp;  StorageClass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48000"/>
            <a:ext cx="111132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AACC"/>
                </a:solidFill>
              </a:rPr>
              <a:t>PVC 생성 시 StorageClass 가 PV 를 자동으로 만들어준다 — 관리자가 PV 를 미리 만들 필요 없음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972000"/>
            <a:ext cx="5466600" cy="1512000"/>
          </a:xfrm>
          <a:prstGeom prst="roundRect">
            <a:avLst>
              <a:gd name="adj" fmla="val 4000"/>
            </a:avLst>
          </a:prstGeom>
          <a:solidFill>
            <a:srgbClr val="181818"/>
          </a:solidFill>
          <a:ln w="15240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tIns="108000"/>
          <a:lstStyle/>
          <a:p>
            <a:pPr algn="l"/>
            <a:r>
              <a:rPr sz="1300" b="1">
                <a:solidFill>
                  <a:srgbClr val="8899AA"/>
                </a:solidFill>
              </a:rPr>
              <a:t>정적 프로비저닝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AAAABB"/>
                </a:solidFill>
              </a:rPr>
              <a:t>① 관리자가 PV 를 미리 생성</a:t>
            </a:r>
          </a:p>
          <a:p>
            <a:pPr algn="l"/>
            <a:r>
              <a:rPr sz="1100" b="0">
                <a:solidFill>
                  <a:srgbClr val="AAAABB"/>
                </a:solidFill>
              </a:rPr>
              <a:t>② 개발자가 PVC 생성</a:t>
            </a:r>
          </a:p>
          <a:p>
            <a:pPr algn="l"/>
            <a:r>
              <a:rPr sz="1100" b="0">
                <a:solidFill>
                  <a:srgbClr val="AAAABB"/>
                </a:solidFill>
              </a:rPr>
              <a:t>③ K8s 가 조건 맞는 PV 에 바인딩</a:t>
            </a:r>
          </a:p>
          <a:p>
            <a:pPr algn="l"/>
            <a:r>
              <a:rPr sz="1000" b="1">
                <a:solidFill>
                  <a:srgbClr val="FFAA55"/>
                </a:solidFill>
              </a:rPr>
              <a:t>→ PV 재고가 부족하면 PVC 는 Pending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6600" y="972000"/>
            <a:ext cx="5466600" cy="1512000"/>
          </a:xfrm>
          <a:prstGeom prst="roundRect">
            <a:avLst>
              <a:gd name="adj" fmla="val 4000"/>
            </a:avLst>
          </a:prstGeom>
          <a:solidFill>
            <a:srgbClr val="0A1F12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2000" tIns="108000"/>
          <a:lstStyle/>
          <a:p>
            <a:pPr algn="l"/>
            <a:r>
              <a:rPr sz="1300" b="1">
                <a:solidFill>
                  <a:srgbClr val="2ECC71"/>
                </a:solidFill>
              </a:rPr>
              <a:t>동적 프로비저닝  ✓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AADDAA"/>
                </a:solidFill>
              </a:rPr>
              <a:t>① 개발자가 StorageClass 지정 PVC 생성</a:t>
            </a:r>
          </a:p>
          <a:p>
            <a:pPr algn="l"/>
            <a:r>
              <a:rPr sz="1100" b="0">
                <a:solidFill>
                  <a:srgbClr val="AADDAA"/>
                </a:solidFill>
              </a:rPr>
              <a:t>② K8s 가 StorageClass 프로비저너 호출</a:t>
            </a:r>
          </a:p>
          <a:p>
            <a:pPr algn="l"/>
            <a:r>
              <a:rPr sz="1100" b="0">
                <a:solidFill>
                  <a:srgbClr val="AADDAA"/>
                </a:solidFill>
              </a:rPr>
              <a:t>③ 프로비저너가 PV 자동 생성 후 바인딩</a:t>
            </a:r>
          </a:p>
          <a:p>
            <a:pPr algn="l"/>
            <a:r>
              <a:rPr sz="1000" b="1">
                <a:solidFill>
                  <a:srgbClr val="55FF88"/>
                </a:solidFill>
              </a:rPr>
              <a:t>→ PV 를 미리 만들 필요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555999"/>
            <a:ext cx="121932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AABBCC"/>
                </a:solidFill>
              </a:rPr>
              <a:t>동적 프로비저닝 흐름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2735999"/>
            <a:ext cx="2589300" cy="1152000"/>
          </a:xfrm>
          <a:prstGeom prst="roundRect">
            <a:avLst>
              <a:gd name="adj" fmla="val 4000"/>
            </a:avLst>
          </a:prstGeom>
          <a:solidFill>
            <a:srgbClr val="160E2E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2807999"/>
            <a:ext cx="25893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CCAAFF"/>
                </a:solidFill>
              </a:rPr>
              <a:t>PVC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3041999"/>
            <a:ext cx="25893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BBDD"/>
                </a:solidFill>
              </a:rPr>
              <a:t>storageClassName:
fast-ssd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9300" y="3297599"/>
            <a:ext cx="161999" cy="28800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73299" y="3232799"/>
            <a:ext cx="108000" cy="158400"/>
          </a:xfrm>
          <a:prstGeom prst="roundRect">
            <a:avLst>
              <a:gd name="adj" fmla="val 50000"/>
            </a:avLst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81299" y="2735999"/>
            <a:ext cx="2589300" cy="1152000"/>
          </a:xfrm>
          <a:prstGeom prst="roundRect">
            <a:avLst>
              <a:gd name="adj" fmla="val 4000"/>
            </a:avLst>
          </a:prstGeom>
          <a:solidFill>
            <a:srgbClr val="082018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1299" y="2807999"/>
            <a:ext cx="25893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2ECC71"/>
                </a:solidFill>
              </a:rPr>
              <a:t>StorageClass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1299" y="3041999"/>
            <a:ext cx="25893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BBDD"/>
                </a:solidFill>
              </a:rPr>
              <a:t>provisioner:
ebs.csi.aws.com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70600" y="3297599"/>
            <a:ext cx="161999" cy="28800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14599" y="3232799"/>
            <a:ext cx="108000" cy="158400"/>
          </a:xfrm>
          <a:prstGeom prst="roundRect">
            <a:avLst>
              <a:gd name="adj" fmla="val 50000"/>
            </a:avLst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22599" y="2735999"/>
            <a:ext cx="2589300" cy="1152000"/>
          </a:xfrm>
          <a:prstGeom prst="roundRect">
            <a:avLst>
              <a:gd name="adj" fmla="val 4000"/>
            </a:avLst>
          </a:prstGeom>
          <a:solidFill>
            <a:srgbClr val="1A1808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2599" y="2807999"/>
            <a:ext cx="25893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CC55"/>
                </a:solidFill>
              </a:rPr>
              <a:t>프로비저너
호출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2599" y="3041999"/>
            <a:ext cx="25893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BBDD"/>
                </a:solidFill>
              </a:rPr>
              <a:t>AWS / GCP /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11900" y="3297599"/>
            <a:ext cx="161999" cy="28800"/>
          </a:xfrm>
          <a:prstGeom prst="rect">
            <a:avLst/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55899" y="3232799"/>
            <a:ext cx="108000" cy="158400"/>
          </a:xfrm>
          <a:prstGeom prst="roundRect">
            <a:avLst>
              <a:gd name="adj" fmla="val 50000"/>
            </a:avLst>
          </a:prstGeom>
          <a:solidFill>
            <a:srgbClr val="557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63899" y="2735999"/>
            <a:ext cx="2589300" cy="1152000"/>
          </a:xfrm>
          <a:prstGeom prst="roundRect">
            <a:avLst>
              <a:gd name="adj" fmla="val 4000"/>
            </a:avLst>
          </a:prstGeom>
          <a:solidFill>
            <a:srgbClr val="081E30"/>
          </a:solidFill>
          <a:ln w="190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63899" y="2807999"/>
            <a:ext cx="25893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79C0FF"/>
                </a:solidFill>
              </a:rPr>
              <a:t>PV 자동 생성
&amp; 바인딩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63899" y="3041999"/>
            <a:ext cx="25893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9BBDD"/>
                </a:solidFill>
              </a:rPr>
              <a:t>Available → Bound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0000" y="4103999"/>
            <a:ext cx="5466600" cy="2430001"/>
          </a:xfrm>
          <a:prstGeom prst="rect">
            <a:avLst/>
          </a:prstGeom>
          <a:solidFill>
            <a:srgbClr val="08121E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000" y="4175999"/>
            <a:ext cx="5466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88BBFF"/>
                </a:solidFill>
              </a:rPr>
              <a:t>StorageClass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000" y="4409999"/>
            <a:ext cx="5178600" cy="2052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79C0FF"/>
                </a:solidFill>
                <a:latin typeface="Courier New"/>
              </a:rPr>
              <a:t>apiVersion: storage.k8s.io/v1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kind: StorageClass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metadata:</a:t>
            </a:r>
          </a:p>
          <a:p>
            <a:r>
              <a:rPr sz="950">
                <a:solidFill>
                  <a:srgbClr val="A8FFA8"/>
                </a:solidFill>
                <a:latin typeface="Courier New"/>
              </a:rPr>
              <a:t>  name: fast-ssd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provisioner: ebs.csi.aws.com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parameters: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type: gp3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encrypted: "true"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reclaimPolicy: Delete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volumeBindingMode: WaitForFirstConsumer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6600" y="4103999"/>
            <a:ext cx="5466600" cy="2430001"/>
          </a:xfrm>
          <a:prstGeom prst="rect">
            <a:avLst/>
          </a:prstGeom>
          <a:solidFill>
            <a:srgbClr val="08121E"/>
          </a:solidFill>
          <a:ln w="1270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0600" y="4175999"/>
            <a:ext cx="54666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88BBFF"/>
                </a:solidFill>
              </a:rPr>
              <a:t>PVC  (StorageClass 지정)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0600" y="4409999"/>
            <a:ext cx="5178600" cy="205200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79C0FF"/>
                </a:solidFill>
                <a:latin typeface="Courier New"/>
              </a:rPr>
              <a:t>apiVersion: v1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kind: PersistentVolumeClaim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metadata:</a:t>
            </a:r>
          </a:p>
          <a:p>
            <a:r>
              <a:rPr sz="950">
                <a:solidFill>
                  <a:srgbClr val="A8FFA8"/>
                </a:solidFill>
                <a:latin typeface="Courier New"/>
              </a:rPr>
              <a:t>  name: my-pvc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spec: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storageClassName: fast-ssd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  accessModes: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- ReadWriteOnce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  resources:</a:t>
            </a:r>
          </a:p>
          <a:p>
            <a:r>
              <a:rPr sz="950">
                <a:solidFill>
                  <a:srgbClr val="79C0FF"/>
                </a:solidFill>
                <a:latin typeface="Courier New"/>
              </a:rPr>
              <a:t>    requests:</a:t>
            </a:r>
          </a:p>
          <a:p>
            <a:r>
              <a:rPr sz="950">
                <a:solidFill>
                  <a:srgbClr val="F0A050"/>
                </a:solidFill>
                <a:latin typeface="Courier New"/>
              </a:rPr>
              <a:t>      storage: 20Gi</a:t>
            </a:r>
          </a:p>
          <a:p>
            <a:r>
              <a:rPr sz="950">
                <a:solidFill>
                  <a:srgbClr val="558855"/>
                </a:solidFill>
                <a:latin typeface="Courier New"/>
              </a:rPr>
              <a:t># PV 는 자동 생성됨 — 직접 만들 필요 없음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3200" y="6462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44668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14000"/>
            <a:ext cx="12193200" cy="144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234000"/>
            <a:ext cx="11113200" cy="39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</a:rPr>
              <a:t>정적 프로비저닝 vs 동적 프로비저닝  —  언제 쓸까?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756000"/>
            <a:ext cx="5376600" cy="3311999"/>
          </a:xfrm>
          <a:prstGeom prst="roundRect">
            <a:avLst>
              <a:gd name="adj" fmla="val 4000"/>
            </a:avLst>
          </a:prstGeom>
          <a:solidFill>
            <a:srgbClr val="081830"/>
          </a:solidFill>
          <a:ln w="2286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0000" y="756000"/>
            <a:ext cx="5376600" cy="360000"/>
          </a:xfrm>
          <a:prstGeom prst="rect">
            <a:avLst/>
          </a:prstGeom>
          <a:solidFill>
            <a:srgbClr val="081830"/>
          </a:solidFill>
          <a:ln w="228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0000" y="756000"/>
            <a:ext cx="5376600" cy="360000"/>
          </a:xfrm>
          <a:prstGeom prst="rect">
            <a:avLst/>
          </a:prstGeom>
          <a:solidFill>
            <a:srgbClr val="326C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828000"/>
            <a:ext cx="53766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EEEEFF"/>
                </a:solidFill>
              </a:rPr>
              <a:t>수동 PV 생성 (정적)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1188000"/>
            <a:ext cx="25199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BCCFF"/>
                </a:solidFill>
              </a:rPr>
              <a:t>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1206000"/>
            <a:ext cx="4944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FF"/>
                </a:solidFill>
              </a:rPr>
              <a:t>기존 스토리지 인프라가 이미 있는 경우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1566000"/>
            <a:ext cx="25199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BCCFF"/>
                </a:solidFill>
              </a:rPr>
              <a:t>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1584000"/>
            <a:ext cx="4944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FF"/>
                </a:solidFill>
              </a:rPr>
              <a:t>온프레미스 / 클라우드 없는 환경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1944000"/>
            <a:ext cx="25199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BCCFF"/>
                </a:solidFill>
              </a:rPr>
              <a:t>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000" y="1962000"/>
            <a:ext cx="4944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FF"/>
                </a:solidFill>
              </a:rPr>
              <a:t>특정 물리 디스크를 정확히 지정해야 할 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2322000"/>
            <a:ext cx="25199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BCCFF"/>
                </a:solidFill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000" y="2340000"/>
            <a:ext cx="4944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FF"/>
                </a:solidFill>
              </a:rPr>
              <a:t>규정 준수 · 데이터 거버넌스로 위치 보장 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2700000"/>
            <a:ext cx="25199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BCCFF"/>
                </a:solidFill>
              </a:rPr>
              <a:t>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000" y="2718000"/>
            <a:ext cx="4944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FF"/>
                </a:solidFill>
              </a:rPr>
              <a:t>스토리지 비용 · 성능을 세밀하게 제어해야 할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000" y="3078000"/>
            <a:ext cx="25199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BBCCFF"/>
                </a:solidFill>
              </a:rPr>
              <a:t>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000" y="3096000"/>
            <a:ext cx="4944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BCCFF"/>
                </a:solidFill>
              </a:rPr>
              <a:t>소규모 클러스터 · 단순 개발 환경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6600" y="756000"/>
            <a:ext cx="5376600" cy="3311999"/>
          </a:xfrm>
          <a:prstGeom prst="roundRect">
            <a:avLst>
              <a:gd name="adj" fmla="val 4000"/>
            </a:avLst>
          </a:prstGeom>
          <a:solidFill>
            <a:srgbClr val="082010"/>
          </a:solidFill>
          <a:ln w="2286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76600" y="756000"/>
            <a:ext cx="5376600" cy="360000"/>
          </a:xfrm>
          <a:prstGeom prst="rect">
            <a:avLst/>
          </a:prstGeom>
          <a:solidFill>
            <a:srgbClr val="082010"/>
          </a:solidFill>
          <a:ln w="228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6600" y="756000"/>
            <a:ext cx="5376600" cy="360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6600" y="828000"/>
            <a:ext cx="5376600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DDFFDD"/>
                </a:solidFill>
              </a:rPr>
              <a:t>동적 프로비저닝 (StorageClass)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4600" y="1188000"/>
            <a:ext cx="25199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AAEEAA"/>
                </a:solidFill>
              </a:rPr>
              <a:t>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6600" y="1206000"/>
            <a:ext cx="4944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EEAA"/>
                </a:solidFill>
              </a:rPr>
              <a:t>클라우드 환경 (AWS / GCP / Azure)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4600" y="1566000"/>
            <a:ext cx="25199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AAEEAA"/>
                </a:solidFill>
              </a:rPr>
              <a:t>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6600" y="1584000"/>
            <a:ext cx="4944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EEAA"/>
                </a:solidFill>
              </a:rPr>
              <a:t>스케일아웃이 빈번 · 수요 예측이 어려운 환경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4600" y="1944000"/>
            <a:ext cx="25199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AAEEAA"/>
                </a:solidFill>
              </a:rPr>
              <a:t>👩‍💻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6600" y="1962000"/>
            <a:ext cx="4944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EEAA"/>
                </a:solidFill>
              </a:rPr>
              <a:t>개발자가 스토리지를 셀프서비스로 요청해야 할 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4600" y="2322000"/>
            <a:ext cx="25199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AAEEAA"/>
                </a:solidFill>
              </a:rPr>
              <a:t>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6600" y="2340000"/>
            <a:ext cx="4944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EEAA"/>
                </a:solidFill>
              </a:rPr>
              <a:t>Ops 와 Dev 팀이 분리된 조직 구조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4600" y="2700000"/>
            <a:ext cx="25199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AAEEAA"/>
                </a:solidFill>
              </a:rPr>
              <a:t>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36600" y="2718000"/>
            <a:ext cx="4944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EEAA"/>
                </a:solidFill>
              </a:rPr>
              <a:t>운영 오버헤드를 최소화하고 싶을 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4600" y="3078000"/>
            <a:ext cx="251999" cy="27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AAEEAA"/>
                </a:solidFill>
              </a:rPr>
              <a:t>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6600" y="3096000"/>
            <a:ext cx="49446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EEAA"/>
                </a:solidFill>
              </a:rPr>
              <a:t>다수의 마이크로서비스가 각자 스토리지를 요청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0000" y="4103999"/>
            <a:ext cx="121932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AABBCC"/>
                </a:solidFill>
              </a:rPr>
              <a:t>항목별 비교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000" y="4283999"/>
            <a:ext cx="2444904" cy="234000"/>
          </a:xfrm>
          <a:prstGeom prst="rect">
            <a:avLst/>
          </a:prstGeom>
          <a:solidFill>
            <a:srgbClr val="1A2A3A"/>
          </a:solidFill>
          <a:ln w="6350">
            <a:solidFill>
              <a:srgbClr val="33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84904" y="4283999"/>
            <a:ext cx="4334148" cy="234000"/>
          </a:xfrm>
          <a:prstGeom prst="rect">
            <a:avLst/>
          </a:prstGeom>
          <a:solidFill>
            <a:srgbClr val="0A1E30"/>
          </a:solidFill>
          <a:ln w="6350">
            <a:solidFill>
              <a:srgbClr val="326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9052" y="4283999"/>
            <a:ext cx="4334148" cy="234000"/>
          </a:xfrm>
          <a:prstGeom prst="rect">
            <a:avLst/>
          </a:prstGeom>
          <a:solidFill>
            <a:srgbClr val="0A2010"/>
          </a:solidFill>
          <a:ln w="63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000" y="4319999"/>
            <a:ext cx="2444904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88A8C8"/>
                </a:solidFill>
              </a:rPr>
              <a:t>항목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56904" y="4319999"/>
            <a:ext cx="4334148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9C0FF"/>
                </a:solidFill>
              </a:rPr>
              <a:t>정적 프로비저닝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91052" y="4319999"/>
            <a:ext cx="4334148" cy="23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ECC71"/>
                </a:solidFill>
              </a:rPr>
              <a:t>동적 프로비저닝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0000" y="4517999"/>
            <a:ext cx="2444904" cy="270000"/>
          </a:xfrm>
          <a:prstGeom prst="rect">
            <a:avLst/>
          </a:prstGeom>
          <a:solidFill>
            <a:srgbClr val="121E2A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984904" y="4517999"/>
            <a:ext cx="4334148" cy="270000"/>
          </a:xfrm>
          <a:prstGeom prst="rect">
            <a:avLst/>
          </a:prstGeom>
          <a:solidFill>
            <a:srgbClr val="101A10"/>
          </a:solidFill>
          <a:ln w="6350">
            <a:solidFill>
              <a:srgbClr val="335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9052" y="4517999"/>
            <a:ext cx="4334148" cy="270000"/>
          </a:xfrm>
          <a:prstGeom prst="rect">
            <a:avLst/>
          </a:prstGeom>
          <a:solidFill>
            <a:srgbClr val="10101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000" y="4553999"/>
            <a:ext cx="2372904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A8C8"/>
                </a:solidFill>
              </a:rPr>
              <a:t>PV 생성 주체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56904" y="4553999"/>
            <a:ext cx="422614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FF"/>
                </a:solidFill>
              </a:rPr>
              <a:t>관리자가 수동 생성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91052" y="4553999"/>
            <a:ext cx="422614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EEAA"/>
                </a:solidFill>
              </a:rPr>
              <a:t>프로비저너가 자동 생성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0000" y="4787999"/>
            <a:ext cx="2444904" cy="270000"/>
          </a:xfrm>
          <a:prstGeom prst="rect">
            <a:avLst/>
          </a:prstGeom>
          <a:solidFill>
            <a:srgbClr val="121E2A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984904" y="4787999"/>
            <a:ext cx="4334148" cy="270000"/>
          </a:xfrm>
          <a:prstGeom prst="rect">
            <a:avLst/>
          </a:prstGeom>
          <a:solidFill>
            <a:srgbClr val="101A10"/>
          </a:solidFill>
          <a:ln w="6350">
            <a:solidFill>
              <a:srgbClr val="335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319052" y="4787999"/>
            <a:ext cx="4334148" cy="270000"/>
          </a:xfrm>
          <a:prstGeom prst="rect">
            <a:avLst/>
          </a:prstGeom>
          <a:solidFill>
            <a:srgbClr val="10101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2000" y="4823999"/>
            <a:ext cx="2372904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A8C8"/>
                </a:solidFill>
              </a:rPr>
              <a:t>운영 오버헤드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56904" y="4823999"/>
            <a:ext cx="422614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B88"/>
                </a:solidFill>
              </a:rPr>
              <a:t>PV 재고 관리 필요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91052" y="4823999"/>
            <a:ext cx="422614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EEAA"/>
                </a:solidFill>
              </a:rPr>
              <a:t>없음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0000" y="5057999"/>
            <a:ext cx="2444904" cy="270000"/>
          </a:xfrm>
          <a:prstGeom prst="rect">
            <a:avLst/>
          </a:prstGeom>
          <a:solidFill>
            <a:srgbClr val="121E2A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84904" y="5057999"/>
            <a:ext cx="4334148" cy="270000"/>
          </a:xfrm>
          <a:prstGeom prst="rect">
            <a:avLst/>
          </a:prstGeom>
          <a:solidFill>
            <a:srgbClr val="101A10"/>
          </a:solidFill>
          <a:ln w="6350">
            <a:solidFill>
              <a:srgbClr val="335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319052" y="5057999"/>
            <a:ext cx="4334148" cy="270000"/>
          </a:xfrm>
          <a:prstGeom prst="rect">
            <a:avLst/>
          </a:prstGeom>
          <a:solidFill>
            <a:srgbClr val="10101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000" y="5093999"/>
            <a:ext cx="2372904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A8C8"/>
                </a:solidFill>
              </a:rPr>
              <a:t>이식성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56904" y="5093999"/>
            <a:ext cx="422614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BB88"/>
                </a:solidFill>
              </a:rPr>
              <a:t>인프라 종속 가능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91052" y="5093999"/>
            <a:ext cx="422614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EEAA"/>
                </a:solidFill>
              </a:rPr>
              <a:t>StorageClass 교체로 이식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0000" y="5327999"/>
            <a:ext cx="2444904" cy="270000"/>
          </a:xfrm>
          <a:prstGeom prst="rect">
            <a:avLst/>
          </a:prstGeom>
          <a:solidFill>
            <a:srgbClr val="121E2A"/>
          </a:solidFill>
          <a:ln w="6350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984904" y="5327999"/>
            <a:ext cx="4334148" cy="270000"/>
          </a:xfrm>
          <a:prstGeom prst="rect">
            <a:avLst/>
          </a:prstGeom>
          <a:solidFill>
            <a:srgbClr val="101A10"/>
          </a:solidFill>
          <a:ln w="6350">
            <a:solidFill>
              <a:srgbClr val="335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9052" y="5327999"/>
            <a:ext cx="4334148" cy="270000"/>
          </a:xfrm>
          <a:prstGeom prst="rect">
            <a:avLst/>
          </a:prstGeom>
          <a:solidFill>
            <a:srgbClr val="10101E"/>
          </a:solidFill>
          <a:ln w="635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000" y="5363999"/>
            <a:ext cx="2372904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8A8C8"/>
                </a:solidFill>
              </a:rPr>
              <a:t>적합 환경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56904" y="5363999"/>
            <a:ext cx="422614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BCCFF"/>
                </a:solidFill>
              </a:rPr>
              <a:t>온프레미스 / 레거시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91052" y="5363999"/>
            <a:ext cx="4226148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EEAA"/>
                </a:solidFill>
              </a:rPr>
              <a:t>클라우드 네이티브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293200" y="6462000"/>
            <a:ext cx="720000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300" b="0">
                <a:solidFill>
                  <a:srgbClr val="446688"/>
                </a:solidFill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